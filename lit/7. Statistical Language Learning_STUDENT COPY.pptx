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59" r:id="rId4"/>
    <p:sldId id="260" r:id="rId5"/>
    <p:sldId id="262" r:id="rId6"/>
    <p:sldId id="263" r:id="rId7"/>
    <p:sldId id="264" r:id="rId8"/>
    <p:sldId id="265" r:id="rId9"/>
    <p:sldId id="284" r:id="rId10"/>
    <p:sldId id="267" r:id="rId11"/>
    <p:sldId id="285" r:id="rId12"/>
    <p:sldId id="277" r:id="rId13"/>
    <p:sldId id="270" r:id="rId14"/>
    <p:sldId id="273" r:id="rId15"/>
    <p:sldId id="276" r:id="rId16"/>
    <p:sldId id="278" r:id="rId17"/>
    <p:sldId id="280" r:id="rId18"/>
    <p:sldId id="282" r:id="rId19"/>
    <p:sldId id="28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87755"/>
  </p:normalViewPr>
  <p:slideViewPr>
    <p:cSldViewPr snapToGrid="0" snapToObjects="1">
      <p:cViewPr varScale="1">
        <p:scale>
          <a:sx n="107" d="100"/>
          <a:sy n="107" d="100"/>
        </p:scale>
        <p:origin x="18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003686-DBD3-0147-8266-0B7FB90F51B7}" type="datetimeFigureOut">
              <a:rPr lang="en-US" smtClean="0"/>
              <a:t>9/26/21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683463-71A7-F14F-8168-CBD6C373BF89}" type="slidenum">
              <a:rPr lang="en-US" smtClean="0"/>
              <a:t>‹#›</a:t>
            </a:fld>
            <a:endParaRPr lang="en-US"/>
          </a:p>
        </p:txBody>
      </p:sp>
    </p:spTree>
    <p:extLst>
      <p:ext uri="{BB962C8B-B14F-4D97-AF65-F5344CB8AC3E}">
        <p14:creationId xmlns:p14="http://schemas.microsoft.com/office/powerpoint/2010/main" val="230421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FIRST BULLET: As you listen to me speak, you understand my words and you KNOW when my words begin and end, even though I (pause) don’t (pause) talk (pause) like (pause) this (pause). Like the white spaces between words you see when you read. But there’s no little white spaces in the auditory world. Also, if you hear the dog bit the boy, you KNOW it means </a:t>
            </a:r>
            <a:r>
              <a:rPr lang="en-US" dirty="0" err="1"/>
              <a:t>sth</a:t>
            </a:r>
            <a:r>
              <a:rPr lang="en-US" dirty="0"/>
              <a:t> different from the boy bit the dog, even though </a:t>
            </a:r>
            <a:r>
              <a:rPr lang="en-US" dirty="0" err="1"/>
              <a:t>ti’s</a:t>
            </a:r>
            <a:r>
              <a:rPr lang="en-US" dirty="0"/>
              <a:t> the same words. And you KNOW that dog the man the bit is ungrammatical in English, although it is grammatical in Japanese. So the question is: how do we learn all this information?</a:t>
            </a:r>
          </a:p>
        </p:txBody>
      </p:sp>
      <p:sp>
        <p:nvSpPr>
          <p:cNvPr id="4" name="Slide Number Placeholder 3"/>
          <p:cNvSpPr>
            <a:spLocks noGrp="1"/>
          </p:cNvSpPr>
          <p:nvPr>
            <p:ph type="sldNum" sz="quarter" idx="5"/>
          </p:nvPr>
        </p:nvSpPr>
        <p:spPr/>
        <p:txBody>
          <a:bodyPr/>
          <a:lstStyle/>
          <a:p>
            <a:fld id="{23683463-71A7-F14F-8168-CBD6C373BF89}" type="slidenum">
              <a:rPr lang="en-US" smtClean="0"/>
              <a:t>2</a:t>
            </a:fld>
            <a:endParaRPr lang="en-US"/>
          </a:p>
        </p:txBody>
      </p:sp>
    </p:spTree>
    <p:extLst>
      <p:ext uri="{BB962C8B-B14F-4D97-AF65-F5344CB8AC3E}">
        <p14:creationId xmlns:p14="http://schemas.microsoft.com/office/powerpoint/2010/main" val="659889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Japanese baby will no longer be able to distinguish between RA and LA but an English baby will.</a:t>
            </a:r>
          </a:p>
        </p:txBody>
      </p:sp>
      <p:sp>
        <p:nvSpPr>
          <p:cNvPr id="4" name="Slide Number Placeholder 3"/>
          <p:cNvSpPr>
            <a:spLocks noGrp="1"/>
          </p:cNvSpPr>
          <p:nvPr>
            <p:ph type="sldNum" sz="quarter" idx="5"/>
          </p:nvPr>
        </p:nvSpPr>
        <p:spPr/>
        <p:txBody>
          <a:bodyPr/>
          <a:lstStyle/>
          <a:p>
            <a:fld id="{23683463-71A7-F14F-8168-CBD6C373BF89}" type="slidenum">
              <a:rPr lang="en-US" smtClean="0"/>
              <a:t>6</a:t>
            </a:fld>
            <a:endParaRPr lang="en-US"/>
          </a:p>
        </p:txBody>
      </p:sp>
    </p:spTree>
    <p:extLst>
      <p:ext uri="{BB962C8B-B14F-4D97-AF65-F5344CB8AC3E}">
        <p14:creationId xmlns:p14="http://schemas.microsoft.com/office/powerpoint/2010/main" val="1232116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83463-71A7-F14F-8168-CBD6C373BF89}" type="slidenum">
              <a:rPr lang="en-US" smtClean="0"/>
              <a:t>7</a:t>
            </a:fld>
            <a:endParaRPr lang="en-US"/>
          </a:p>
        </p:txBody>
      </p:sp>
    </p:spTree>
    <p:extLst>
      <p:ext uri="{BB962C8B-B14F-4D97-AF65-F5344CB8AC3E}">
        <p14:creationId xmlns:p14="http://schemas.microsoft.com/office/powerpoint/2010/main" val="1656093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83463-71A7-F14F-8168-CBD6C373BF89}" type="slidenum">
              <a:rPr lang="en-US" smtClean="0"/>
              <a:t>8</a:t>
            </a:fld>
            <a:endParaRPr lang="en-US"/>
          </a:p>
        </p:txBody>
      </p:sp>
    </p:spTree>
    <p:extLst>
      <p:ext uri="{BB962C8B-B14F-4D97-AF65-F5344CB8AC3E}">
        <p14:creationId xmlns:p14="http://schemas.microsoft.com/office/powerpoint/2010/main" val="3469804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83463-71A7-F14F-8168-CBD6C373BF89}" type="slidenum">
              <a:rPr lang="en-US" smtClean="0"/>
              <a:t>9</a:t>
            </a:fld>
            <a:endParaRPr lang="en-US"/>
          </a:p>
        </p:txBody>
      </p:sp>
    </p:spTree>
    <p:extLst>
      <p:ext uri="{BB962C8B-B14F-4D97-AF65-F5344CB8AC3E}">
        <p14:creationId xmlns:p14="http://schemas.microsoft.com/office/powerpoint/2010/main" val="1561439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Babies are like statisticians. Their brains are very sensitive to probabilities based on frequencies.</a:t>
            </a:r>
          </a:p>
          <a:p>
            <a:r>
              <a:rPr lang="en-US" dirty="0"/>
              <a:t>Music of speech: this varies from lang to lang: a 2-syllable word in </a:t>
            </a:r>
            <a:r>
              <a:rPr lang="en-US" dirty="0" err="1"/>
              <a:t>Engilsh</a:t>
            </a:r>
            <a:r>
              <a:rPr lang="en-US" dirty="0"/>
              <a:t> is normally a stress-no stress pattern: Baby, </a:t>
            </a:r>
            <a:r>
              <a:rPr lang="en-US" dirty="0" err="1"/>
              <a:t>BOOkie</a:t>
            </a:r>
            <a:r>
              <a:rPr lang="en-US" dirty="0"/>
              <a:t>, Mommy, coffee. Now compare with French: </a:t>
            </a:r>
            <a:r>
              <a:rPr lang="en-US" dirty="0" err="1"/>
              <a:t>beBE</a:t>
            </a:r>
            <a:r>
              <a:rPr lang="en-US" dirty="0"/>
              <a:t>, </a:t>
            </a:r>
            <a:r>
              <a:rPr lang="en-US" dirty="0" err="1"/>
              <a:t>bisCUIT</a:t>
            </a:r>
            <a:r>
              <a:rPr lang="en-US" dirty="0"/>
              <a:t>, </a:t>
            </a:r>
            <a:r>
              <a:rPr lang="en-US" dirty="0" err="1"/>
              <a:t>maMAN</a:t>
            </a:r>
            <a:r>
              <a:rPr lang="en-US" dirty="0"/>
              <a:t>, café. Over 90% of the words we speak to babies in English and in French have this pattern (paroxytone or oxytone).</a:t>
            </a:r>
          </a:p>
        </p:txBody>
      </p:sp>
      <p:sp>
        <p:nvSpPr>
          <p:cNvPr id="4" name="Slide Number Placeholder 3"/>
          <p:cNvSpPr>
            <a:spLocks noGrp="1"/>
          </p:cNvSpPr>
          <p:nvPr>
            <p:ph type="sldNum" sz="quarter" idx="5"/>
          </p:nvPr>
        </p:nvSpPr>
        <p:spPr/>
        <p:txBody>
          <a:bodyPr/>
          <a:lstStyle/>
          <a:p>
            <a:fld id="{23683463-71A7-F14F-8168-CBD6C373BF89}" type="slidenum">
              <a:rPr lang="en-US" smtClean="0"/>
              <a:t>10</a:t>
            </a:fld>
            <a:endParaRPr lang="en-US"/>
          </a:p>
        </p:txBody>
      </p:sp>
    </p:spTree>
    <p:extLst>
      <p:ext uri="{BB962C8B-B14F-4D97-AF65-F5344CB8AC3E}">
        <p14:creationId xmlns:p14="http://schemas.microsoft.com/office/powerpoint/2010/main" val="4188262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83463-71A7-F14F-8168-CBD6C373BF89}" type="slidenum">
              <a:rPr lang="en-US" smtClean="0"/>
              <a:t>11</a:t>
            </a:fld>
            <a:endParaRPr lang="en-US"/>
          </a:p>
        </p:txBody>
      </p:sp>
    </p:spTree>
    <p:extLst>
      <p:ext uri="{BB962C8B-B14F-4D97-AF65-F5344CB8AC3E}">
        <p14:creationId xmlns:p14="http://schemas.microsoft.com/office/powerpoint/2010/main" val="2040136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Babies are like statisticians. Their brains are very sensitive to probabilities based on frequencies.</a:t>
            </a:r>
          </a:p>
          <a:p>
            <a:r>
              <a:rPr lang="en-US" dirty="0"/>
              <a:t>Music of speech: this varies from lang to lang: a 2-syllable word in </a:t>
            </a:r>
            <a:r>
              <a:rPr lang="en-US" dirty="0" err="1"/>
              <a:t>Engilsh</a:t>
            </a:r>
            <a:r>
              <a:rPr lang="en-US" dirty="0"/>
              <a:t> is normally a stress-no stress pattern: Baby, </a:t>
            </a:r>
            <a:r>
              <a:rPr lang="en-US" dirty="0" err="1"/>
              <a:t>BOOkie</a:t>
            </a:r>
            <a:r>
              <a:rPr lang="en-US" dirty="0"/>
              <a:t>, Mommy, Daddy. Now compare with French: </a:t>
            </a:r>
            <a:r>
              <a:rPr lang="en-US" dirty="0" err="1"/>
              <a:t>beBE</a:t>
            </a:r>
            <a:r>
              <a:rPr lang="en-US" dirty="0"/>
              <a:t>, </a:t>
            </a:r>
            <a:r>
              <a:rPr lang="en-US" dirty="0" err="1"/>
              <a:t>bisCUIT</a:t>
            </a:r>
            <a:r>
              <a:rPr lang="en-US" dirty="0"/>
              <a:t>, </a:t>
            </a:r>
            <a:r>
              <a:rPr lang="en-US" dirty="0" err="1"/>
              <a:t>maMAN</a:t>
            </a:r>
            <a:r>
              <a:rPr lang="en-US" dirty="0"/>
              <a:t>, </a:t>
            </a:r>
          </a:p>
        </p:txBody>
      </p:sp>
      <p:sp>
        <p:nvSpPr>
          <p:cNvPr id="4" name="Slide Number Placeholder 3"/>
          <p:cNvSpPr>
            <a:spLocks noGrp="1"/>
          </p:cNvSpPr>
          <p:nvPr>
            <p:ph type="sldNum" sz="quarter" idx="5"/>
          </p:nvPr>
        </p:nvSpPr>
        <p:spPr/>
        <p:txBody>
          <a:bodyPr/>
          <a:lstStyle/>
          <a:p>
            <a:fld id="{23683463-71A7-F14F-8168-CBD6C373BF89}" type="slidenum">
              <a:rPr lang="en-US" smtClean="0"/>
              <a:t>12</a:t>
            </a:fld>
            <a:endParaRPr lang="en-US"/>
          </a:p>
        </p:txBody>
      </p:sp>
    </p:spTree>
    <p:extLst>
      <p:ext uri="{BB962C8B-B14F-4D97-AF65-F5344CB8AC3E}">
        <p14:creationId xmlns:p14="http://schemas.microsoft.com/office/powerpoint/2010/main" val="802729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Babies are like statisticians. Their brains are very sensitive to probabilities based on frequencies.</a:t>
            </a:r>
          </a:p>
          <a:p>
            <a:r>
              <a:rPr lang="en-US" dirty="0"/>
              <a:t>Music of speech: this varies from lang to lang: a 2-syllable word in </a:t>
            </a:r>
            <a:r>
              <a:rPr lang="en-US" dirty="0" err="1"/>
              <a:t>Engilsh</a:t>
            </a:r>
            <a:r>
              <a:rPr lang="en-US" dirty="0"/>
              <a:t> is normally a stress-no stress pattern: Baby, </a:t>
            </a:r>
            <a:r>
              <a:rPr lang="en-US" dirty="0" err="1"/>
              <a:t>BOOkie</a:t>
            </a:r>
            <a:r>
              <a:rPr lang="en-US" dirty="0"/>
              <a:t>, Mommy, Daddy. Now compare with French: </a:t>
            </a:r>
            <a:r>
              <a:rPr lang="en-US" dirty="0" err="1"/>
              <a:t>beBE</a:t>
            </a:r>
            <a:r>
              <a:rPr lang="en-US" dirty="0"/>
              <a:t>, </a:t>
            </a:r>
            <a:r>
              <a:rPr lang="en-US" dirty="0" err="1"/>
              <a:t>bisCUIT</a:t>
            </a:r>
            <a:r>
              <a:rPr lang="en-US" dirty="0"/>
              <a:t>, </a:t>
            </a:r>
            <a:r>
              <a:rPr lang="en-US" dirty="0" err="1"/>
              <a:t>maMAN</a:t>
            </a:r>
            <a:r>
              <a:rPr lang="en-US" dirty="0"/>
              <a:t>, </a:t>
            </a:r>
          </a:p>
        </p:txBody>
      </p:sp>
      <p:sp>
        <p:nvSpPr>
          <p:cNvPr id="4" name="Slide Number Placeholder 3"/>
          <p:cNvSpPr>
            <a:spLocks noGrp="1"/>
          </p:cNvSpPr>
          <p:nvPr>
            <p:ph type="sldNum" sz="quarter" idx="5"/>
          </p:nvPr>
        </p:nvSpPr>
        <p:spPr/>
        <p:txBody>
          <a:bodyPr/>
          <a:lstStyle/>
          <a:p>
            <a:fld id="{23683463-71A7-F14F-8168-CBD6C373BF89}" type="slidenum">
              <a:rPr lang="en-US" smtClean="0"/>
              <a:t>13</a:t>
            </a:fld>
            <a:endParaRPr lang="en-US"/>
          </a:p>
        </p:txBody>
      </p:sp>
    </p:spTree>
    <p:extLst>
      <p:ext uri="{BB962C8B-B14F-4D97-AF65-F5344CB8AC3E}">
        <p14:creationId xmlns:p14="http://schemas.microsoft.com/office/powerpoint/2010/main" val="2967639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83463-71A7-F14F-8168-CBD6C373BF89}" type="slidenum">
              <a:rPr lang="en-US" smtClean="0"/>
              <a:t>14</a:t>
            </a:fld>
            <a:endParaRPr lang="en-US"/>
          </a:p>
        </p:txBody>
      </p:sp>
    </p:spTree>
    <p:extLst>
      <p:ext uri="{BB962C8B-B14F-4D97-AF65-F5344CB8AC3E}">
        <p14:creationId xmlns:p14="http://schemas.microsoft.com/office/powerpoint/2010/main" val="4225991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TOKIBU,GIKOBA,GOILA, TIPOLU, TOKIBU, GOPILA, TIPOLU, TOKIBU, BI</a:t>
            </a:r>
          </a:p>
        </p:txBody>
      </p:sp>
      <p:sp>
        <p:nvSpPr>
          <p:cNvPr id="4" name="Slide Number Placeholder 3"/>
          <p:cNvSpPr>
            <a:spLocks noGrp="1"/>
          </p:cNvSpPr>
          <p:nvPr>
            <p:ph type="sldNum" sz="quarter" idx="5"/>
          </p:nvPr>
        </p:nvSpPr>
        <p:spPr/>
        <p:txBody>
          <a:bodyPr/>
          <a:lstStyle/>
          <a:p>
            <a:fld id="{23683463-71A7-F14F-8168-CBD6C373BF89}" type="slidenum">
              <a:rPr lang="en-US" smtClean="0"/>
              <a:t>15</a:t>
            </a:fld>
            <a:endParaRPr lang="en-US"/>
          </a:p>
        </p:txBody>
      </p:sp>
    </p:spTree>
    <p:extLst>
      <p:ext uri="{BB962C8B-B14F-4D97-AF65-F5344CB8AC3E}">
        <p14:creationId xmlns:p14="http://schemas.microsoft.com/office/powerpoint/2010/main" val="2643335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TOKIBU,GIKOBA,GOILA, TIPOLU, TOKIBU, GOPILA, TIPOLU, TOKIBU, BI</a:t>
            </a:r>
          </a:p>
        </p:txBody>
      </p:sp>
      <p:sp>
        <p:nvSpPr>
          <p:cNvPr id="4" name="Slide Number Placeholder 3"/>
          <p:cNvSpPr>
            <a:spLocks noGrp="1"/>
          </p:cNvSpPr>
          <p:nvPr>
            <p:ph type="sldNum" sz="quarter" idx="5"/>
          </p:nvPr>
        </p:nvSpPr>
        <p:spPr/>
        <p:txBody>
          <a:bodyPr/>
          <a:lstStyle/>
          <a:p>
            <a:fld id="{23683463-71A7-F14F-8168-CBD6C373BF89}" type="slidenum">
              <a:rPr lang="en-US" smtClean="0"/>
              <a:t>16</a:t>
            </a:fld>
            <a:endParaRPr lang="en-US"/>
          </a:p>
        </p:txBody>
      </p:sp>
    </p:spTree>
    <p:extLst>
      <p:ext uri="{BB962C8B-B14F-4D97-AF65-F5344CB8AC3E}">
        <p14:creationId xmlns:p14="http://schemas.microsoft.com/office/powerpoint/2010/main" val="3031791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83463-71A7-F14F-8168-CBD6C373BF89}" type="slidenum">
              <a:rPr lang="en-US" smtClean="0"/>
              <a:t>17</a:t>
            </a:fld>
            <a:endParaRPr lang="en-US"/>
          </a:p>
        </p:txBody>
      </p:sp>
    </p:spTree>
    <p:extLst>
      <p:ext uri="{BB962C8B-B14F-4D97-AF65-F5344CB8AC3E}">
        <p14:creationId xmlns:p14="http://schemas.microsoft.com/office/powerpoint/2010/main" val="3327404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83463-71A7-F14F-8168-CBD6C373BF89}" type="slidenum">
              <a:rPr lang="en-US" smtClean="0"/>
              <a:t>18</a:t>
            </a:fld>
            <a:endParaRPr lang="en-US"/>
          </a:p>
        </p:txBody>
      </p:sp>
    </p:spTree>
    <p:extLst>
      <p:ext uri="{BB962C8B-B14F-4D97-AF65-F5344CB8AC3E}">
        <p14:creationId xmlns:p14="http://schemas.microsoft.com/office/powerpoint/2010/main" val="964090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4D68-9A82-694B-84D7-D70D5CCDDA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05560B-DE9D-E04F-AC88-5AA18A284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1A3420-7F53-F94A-BDD3-A4D6A3BD7B36}"/>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5" name="Footer Placeholder 4">
            <a:extLst>
              <a:ext uri="{FF2B5EF4-FFF2-40B4-BE49-F238E27FC236}">
                <a16:creationId xmlns:a16="http://schemas.microsoft.com/office/drawing/2014/main" id="{2C5C67C3-7F28-0643-823C-78CE795AE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D1EC18-7C78-0743-8A2C-4620A7111085}"/>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3261332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655BC-D98D-F448-B360-A9B6ACCB95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1AAB82-8B38-6D41-AB6D-BA0F2F82CD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1FADAE-38A1-4A44-B744-ABB8181620D9}"/>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5" name="Footer Placeholder 4">
            <a:extLst>
              <a:ext uri="{FF2B5EF4-FFF2-40B4-BE49-F238E27FC236}">
                <a16:creationId xmlns:a16="http://schemas.microsoft.com/office/drawing/2014/main" id="{4DC29F6C-0A95-A84E-BD7D-60C4389B2B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F297F3-F7C1-A442-A7D0-8800755891DC}"/>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1805058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28945-E9BD-684B-B24C-D7F53019E8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F18A9C-98FD-944D-848E-86F23E3F5B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02E6CF-A4E9-AF45-8E8D-6EFA7DC4A9BE}"/>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5" name="Footer Placeholder 4">
            <a:extLst>
              <a:ext uri="{FF2B5EF4-FFF2-40B4-BE49-F238E27FC236}">
                <a16:creationId xmlns:a16="http://schemas.microsoft.com/office/drawing/2014/main" id="{5D3104A2-B9F6-CB49-94CF-B4CA6ABC3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E5684-E9E4-B64C-B3F6-649FD34352EC}"/>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594826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7C1CA-5BF7-2F46-9B61-3C2DD70047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6F098D-6407-154B-96F4-AD08D6602B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B7B0B6-5C18-374A-B986-3BA3D55BB1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3D271D-A86B-894A-BCF4-5D096F4F2AE5}"/>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6" name="Footer Placeholder 5">
            <a:extLst>
              <a:ext uri="{FF2B5EF4-FFF2-40B4-BE49-F238E27FC236}">
                <a16:creationId xmlns:a16="http://schemas.microsoft.com/office/drawing/2014/main" id="{92A0E46F-0209-C344-AC2E-16481E110F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3A9D68-E5D3-7045-BB3E-CBB1FB462482}"/>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3679121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4EBAE-B360-E14F-8873-1B3E7793F3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CCD456-C9BE-0B4C-AC90-AB4AAFBB7B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5F993B-9A0A-3B44-945A-BB039B80E7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3B5986-3863-BB47-8459-06F3C1F1A1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37D830-4B1E-E945-90B9-60F343F8A6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2CFAD6-2845-D14E-A9C9-D06333C0FA43}"/>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8" name="Footer Placeholder 7">
            <a:extLst>
              <a:ext uri="{FF2B5EF4-FFF2-40B4-BE49-F238E27FC236}">
                <a16:creationId xmlns:a16="http://schemas.microsoft.com/office/drawing/2014/main" id="{209DE773-68DB-D044-ADC5-B24E75A90F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BB6245-913C-D648-BC6C-ADF83F55D7E0}"/>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3087242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03D3E-A781-2B42-A458-F8D21CF11D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EAFF58-9188-EB42-A7B2-FEAD0F8FF50C}"/>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4" name="Footer Placeholder 3">
            <a:extLst>
              <a:ext uri="{FF2B5EF4-FFF2-40B4-BE49-F238E27FC236}">
                <a16:creationId xmlns:a16="http://schemas.microsoft.com/office/drawing/2014/main" id="{8D2458DD-1E48-8A45-BED1-FA3EFC08F9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E95147-2055-3044-94F4-29C678BB4D74}"/>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1373380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1612D0-A41B-7344-A3D2-AE0A027ECFB7}"/>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3" name="Footer Placeholder 2">
            <a:extLst>
              <a:ext uri="{FF2B5EF4-FFF2-40B4-BE49-F238E27FC236}">
                <a16:creationId xmlns:a16="http://schemas.microsoft.com/office/drawing/2014/main" id="{F4FFA0C2-B229-5D49-87A0-AA4FDD2060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59BC46-E49B-724D-AE19-F87C10A04335}"/>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2271557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D5824-31A2-AA4E-B208-B11932523C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1ACBFF-D7F7-F34E-94F1-D7FA8B545D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7AC7CD-8A59-DE45-B28A-504E7F4958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0DBE30-933B-BD41-A766-F3EC01564DDC}"/>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6" name="Footer Placeholder 5">
            <a:extLst>
              <a:ext uri="{FF2B5EF4-FFF2-40B4-BE49-F238E27FC236}">
                <a16:creationId xmlns:a16="http://schemas.microsoft.com/office/drawing/2014/main" id="{21C93D61-A18C-8F4A-9EE4-FE93A1F767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1E62A9-02E6-454F-A717-391AD381C217}"/>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925777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C85F9-3A51-1A4A-909F-FBE9228026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7DFCFB-F8EE-CD4E-B645-1558F95482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87528E-89F3-434C-85AE-239F4D9E5A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76CADA-1A4B-344C-9A9B-6612B933EDA6}"/>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6" name="Footer Placeholder 5">
            <a:extLst>
              <a:ext uri="{FF2B5EF4-FFF2-40B4-BE49-F238E27FC236}">
                <a16:creationId xmlns:a16="http://schemas.microsoft.com/office/drawing/2014/main" id="{3BCB0EA1-9989-984E-9731-433A812E7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9C752B-906E-1C4A-BE26-5E98DAE4A7B2}"/>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3147789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4114D-EA6D-204A-9CDA-FA101ABAAB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7EC2A5-0CF4-A749-8599-6BB69BA5E1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7C2F7-2D6B-2E44-A3EB-F60599557FCC}"/>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5" name="Footer Placeholder 4">
            <a:extLst>
              <a:ext uri="{FF2B5EF4-FFF2-40B4-BE49-F238E27FC236}">
                <a16:creationId xmlns:a16="http://schemas.microsoft.com/office/drawing/2014/main" id="{66547B7D-2721-6249-9852-FC8CE5AD1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7149B2-1DDD-6B45-A1CF-205A736E9017}"/>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2498913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3D272-9054-A74B-8064-4411995582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844F9B-4316-0649-9818-83085192B8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FD0FE-D927-1448-B9CB-02A4AC82293C}"/>
              </a:ext>
            </a:extLst>
          </p:cNvPr>
          <p:cNvSpPr>
            <a:spLocks noGrp="1"/>
          </p:cNvSpPr>
          <p:nvPr>
            <p:ph type="dt" sz="half" idx="10"/>
          </p:nvPr>
        </p:nvSpPr>
        <p:spPr/>
        <p:txBody>
          <a:bodyPr/>
          <a:lstStyle/>
          <a:p>
            <a:fld id="{BE5BBBFB-C886-4643-96BE-44332E92E560}" type="datetimeFigureOut">
              <a:rPr lang="en-US" smtClean="0"/>
              <a:t>9/26/21</a:t>
            </a:fld>
            <a:endParaRPr lang="en-US"/>
          </a:p>
        </p:txBody>
      </p:sp>
      <p:sp>
        <p:nvSpPr>
          <p:cNvPr id="5" name="Footer Placeholder 4">
            <a:extLst>
              <a:ext uri="{FF2B5EF4-FFF2-40B4-BE49-F238E27FC236}">
                <a16:creationId xmlns:a16="http://schemas.microsoft.com/office/drawing/2014/main" id="{30237540-D538-7B44-A48E-58BC31F70C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F1EFA-278E-AF44-A345-24CCF68983E9}"/>
              </a:ext>
            </a:extLst>
          </p:cNvPr>
          <p:cNvSpPr>
            <a:spLocks noGrp="1"/>
          </p:cNvSpPr>
          <p:nvPr>
            <p:ph type="sldNum" sz="quarter" idx="12"/>
          </p:nvPr>
        </p:nvSpPr>
        <p:spPr/>
        <p:txBody>
          <a:bodyPr/>
          <a:lstStyle/>
          <a:p>
            <a:fld id="{1FF8D8A1-44FA-B745-A438-532BA7903142}" type="slidenum">
              <a:rPr lang="en-US" smtClean="0"/>
              <a:t>‹#›</a:t>
            </a:fld>
            <a:endParaRPr lang="en-US"/>
          </a:p>
        </p:txBody>
      </p:sp>
    </p:spTree>
    <p:extLst>
      <p:ext uri="{BB962C8B-B14F-4D97-AF65-F5344CB8AC3E}">
        <p14:creationId xmlns:p14="http://schemas.microsoft.com/office/powerpoint/2010/main" val="1950748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974E9D-2863-814D-92B8-86E092AD2B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92A9A3-3E92-3640-AC13-C834DC6C08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C643F-7346-6047-A3F0-9C9A5161F1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BBBFB-C886-4643-96BE-44332E92E560}" type="datetimeFigureOut">
              <a:rPr lang="en-US" smtClean="0"/>
              <a:t>9/26/21</a:t>
            </a:fld>
            <a:endParaRPr lang="en-US"/>
          </a:p>
        </p:txBody>
      </p:sp>
      <p:sp>
        <p:nvSpPr>
          <p:cNvPr id="5" name="Footer Placeholder 4">
            <a:extLst>
              <a:ext uri="{FF2B5EF4-FFF2-40B4-BE49-F238E27FC236}">
                <a16:creationId xmlns:a16="http://schemas.microsoft.com/office/drawing/2014/main" id="{F1CD4153-A31A-6B48-8699-D80B73EC4F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81A67E-7DAC-2F4A-8473-E9DD9589B9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F8D8A1-44FA-B745-A438-532BA7903142}" type="slidenum">
              <a:rPr lang="en-US" smtClean="0"/>
              <a:t>‹#›</a:t>
            </a:fld>
            <a:endParaRPr lang="en-US"/>
          </a:p>
        </p:txBody>
      </p:sp>
    </p:spTree>
    <p:extLst>
      <p:ext uri="{BB962C8B-B14F-4D97-AF65-F5344CB8AC3E}">
        <p14:creationId xmlns:p14="http://schemas.microsoft.com/office/powerpoint/2010/main" val="3529269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etflix.com/watch/80117843?trackId=14277283&amp;tctx=-97%2C-97%2C%2C%2C%2C"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netflix.com/watch/80117843?trackId=14277283&amp;tctx=-97%2C-97%2C%2C%2C%2C"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40823-B9FA-E245-825A-4559E875773D}"/>
              </a:ext>
            </a:extLst>
          </p:cNvPr>
          <p:cNvSpPr>
            <a:spLocks noGrp="1"/>
          </p:cNvSpPr>
          <p:nvPr>
            <p:ph type="ctrTitle"/>
          </p:nvPr>
        </p:nvSpPr>
        <p:spPr/>
        <p:txBody>
          <a:bodyPr/>
          <a:lstStyle/>
          <a:p>
            <a:r>
              <a:rPr lang="en-US" dirty="0">
                <a:solidFill>
                  <a:schemeClr val="accent2"/>
                </a:solidFill>
              </a:rPr>
              <a:t>Statistical language learning </a:t>
            </a:r>
          </a:p>
        </p:txBody>
      </p:sp>
      <p:sp>
        <p:nvSpPr>
          <p:cNvPr id="3" name="Subtitle 2">
            <a:extLst>
              <a:ext uri="{FF2B5EF4-FFF2-40B4-BE49-F238E27FC236}">
                <a16:creationId xmlns:a16="http://schemas.microsoft.com/office/drawing/2014/main" id="{95267E21-3480-1F4D-B37E-35479C111AED}"/>
              </a:ext>
            </a:extLst>
          </p:cNvPr>
          <p:cNvSpPr>
            <a:spLocks noGrp="1"/>
          </p:cNvSpPr>
          <p:nvPr>
            <p:ph type="subTitle" idx="1"/>
          </p:nvPr>
        </p:nvSpPr>
        <p:spPr>
          <a:xfrm>
            <a:off x="1524000" y="4760278"/>
            <a:ext cx="9144000" cy="1655762"/>
          </a:xfrm>
        </p:spPr>
        <p:txBody>
          <a:bodyPr/>
          <a:lstStyle/>
          <a:p>
            <a:r>
              <a:rPr lang="en-US" dirty="0"/>
              <a:t>Prof. Nuria Sagarra</a:t>
            </a:r>
          </a:p>
          <a:p>
            <a:r>
              <a:rPr lang="en-US" dirty="0"/>
              <a:t>This presentation is based on Jenny </a:t>
            </a:r>
            <a:r>
              <a:rPr lang="en-US" dirty="0" err="1"/>
              <a:t>Saffran’s</a:t>
            </a:r>
            <a:r>
              <a:rPr lang="en-US" dirty="0"/>
              <a:t> work.</a:t>
            </a:r>
          </a:p>
        </p:txBody>
      </p:sp>
    </p:spTree>
    <p:extLst>
      <p:ext uri="{BB962C8B-B14F-4D97-AF65-F5344CB8AC3E}">
        <p14:creationId xmlns:p14="http://schemas.microsoft.com/office/powerpoint/2010/main" val="2314121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1C7E3-6A65-DC4F-B22C-C0CA5160560C}"/>
              </a:ext>
            </a:extLst>
          </p:cNvPr>
          <p:cNvSpPr>
            <a:spLocks noGrp="1"/>
          </p:cNvSpPr>
          <p:nvPr>
            <p:ph type="title"/>
          </p:nvPr>
        </p:nvSpPr>
        <p:spPr/>
        <p:txBody>
          <a:bodyPr/>
          <a:lstStyle/>
          <a:p>
            <a:r>
              <a:rPr lang="en-US" dirty="0">
                <a:solidFill>
                  <a:schemeClr val="accent2"/>
                </a:solidFill>
              </a:rPr>
              <a:t>You know more than you think…</a:t>
            </a:r>
          </a:p>
        </p:txBody>
      </p:sp>
      <p:sp>
        <p:nvSpPr>
          <p:cNvPr id="3" name="Content Placeholder 2">
            <a:extLst>
              <a:ext uri="{FF2B5EF4-FFF2-40B4-BE49-F238E27FC236}">
                <a16:creationId xmlns:a16="http://schemas.microsoft.com/office/drawing/2014/main" id="{1E4CF14C-0C11-6541-A770-C114E0A9F5B7}"/>
              </a:ext>
            </a:extLst>
          </p:cNvPr>
          <p:cNvSpPr>
            <a:spLocks noGrp="1"/>
          </p:cNvSpPr>
          <p:nvPr>
            <p:ph idx="1"/>
          </p:nvPr>
        </p:nvSpPr>
        <p:spPr>
          <a:xfrm>
            <a:off x="838200" y="1792733"/>
            <a:ext cx="11240481" cy="3147819"/>
          </a:xfrm>
        </p:spPr>
        <p:txBody>
          <a:bodyPr>
            <a:normAutofit fontScale="92500" lnSpcReduction="10000"/>
          </a:bodyPr>
          <a:lstStyle/>
          <a:p>
            <a:pPr marL="0" indent="0">
              <a:buNone/>
            </a:pPr>
            <a:r>
              <a:rPr lang="en-US" dirty="0"/>
              <a:t>You </a:t>
            </a:r>
            <a:r>
              <a:rPr lang="en-US" dirty="0">
                <a:solidFill>
                  <a:schemeClr val="accent2"/>
                </a:solidFill>
              </a:rPr>
              <a:t>know</a:t>
            </a:r>
            <a:r>
              <a:rPr lang="en-US" dirty="0"/>
              <a:t> when words begin and end when you listen to me.</a:t>
            </a:r>
          </a:p>
          <a:p>
            <a:pPr marL="0" indent="0">
              <a:buNone/>
            </a:pPr>
            <a:r>
              <a:rPr lang="en-US" dirty="0"/>
              <a:t>You </a:t>
            </a:r>
            <a:r>
              <a:rPr lang="en-US" dirty="0">
                <a:solidFill>
                  <a:schemeClr val="accent2"/>
                </a:solidFill>
              </a:rPr>
              <a:t>know</a:t>
            </a:r>
            <a:r>
              <a:rPr lang="en-US" dirty="0"/>
              <a:t> </a:t>
            </a:r>
            <a:r>
              <a:rPr lang="en-US" i="1" dirty="0"/>
              <a:t>the dog bit the boy </a:t>
            </a:r>
            <a:r>
              <a:rPr lang="en-US" dirty="0"/>
              <a:t>is different from </a:t>
            </a:r>
            <a:r>
              <a:rPr lang="en-US" i="1" dirty="0"/>
              <a:t>the boy bit the dog</a:t>
            </a:r>
            <a:r>
              <a:rPr lang="en-US" dirty="0"/>
              <a:t>.</a:t>
            </a:r>
          </a:p>
          <a:p>
            <a:pPr marL="0" indent="0">
              <a:buNone/>
            </a:pPr>
            <a:r>
              <a:rPr lang="en-US" dirty="0"/>
              <a:t>You </a:t>
            </a:r>
            <a:r>
              <a:rPr lang="en-US" dirty="0">
                <a:solidFill>
                  <a:schemeClr val="accent2"/>
                </a:solidFill>
              </a:rPr>
              <a:t>know</a:t>
            </a:r>
            <a:r>
              <a:rPr lang="en-US" dirty="0"/>
              <a:t> </a:t>
            </a:r>
            <a:r>
              <a:rPr lang="en-US" i="1" dirty="0"/>
              <a:t>dog the man the bit </a:t>
            </a:r>
            <a:r>
              <a:rPr lang="en-US" dirty="0"/>
              <a:t>is ungrammatical (but it’s grammatical in Japanese) </a:t>
            </a:r>
          </a:p>
          <a:p>
            <a:pPr marL="0" indent="0">
              <a:buNone/>
            </a:pPr>
            <a:r>
              <a:rPr lang="en-US" dirty="0">
                <a:solidFill>
                  <a:schemeClr val="accent2"/>
                </a:solidFill>
              </a:rPr>
              <a:t>How does all this information get into a baby’s head?</a:t>
            </a:r>
          </a:p>
          <a:p>
            <a:pPr marL="0" indent="0">
              <a:buNone/>
            </a:pPr>
            <a:endParaRPr lang="en-US" dirty="0"/>
          </a:p>
          <a:p>
            <a:pPr marL="0" indent="0">
              <a:buNone/>
            </a:pPr>
            <a:r>
              <a:rPr lang="en-US" dirty="0"/>
              <a:t>We can address this question by examining </a:t>
            </a:r>
          </a:p>
          <a:p>
            <a:pPr marL="0" indent="0">
              <a:buNone/>
            </a:pPr>
            <a:r>
              <a:rPr lang="en-US" dirty="0"/>
              <a:t>where babies look while they’re listening to things.</a:t>
            </a:r>
          </a:p>
        </p:txBody>
      </p:sp>
      <p:pic>
        <p:nvPicPr>
          <p:cNvPr id="1030" name="Picture 6" descr="Image">
            <a:extLst>
              <a:ext uri="{FF2B5EF4-FFF2-40B4-BE49-F238E27FC236}">
                <a16:creationId xmlns:a16="http://schemas.microsoft.com/office/drawing/2014/main" id="{DD4A46E2-D197-C746-8A35-3C038766C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9198" y="3940637"/>
            <a:ext cx="3874758" cy="2302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144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C3F851-B539-A74A-99E0-A2C891B51BDB}"/>
              </a:ext>
            </a:extLst>
          </p:cNvPr>
          <p:cNvSpPr>
            <a:spLocks noGrp="1"/>
          </p:cNvSpPr>
          <p:nvPr>
            <p:ph idx="1"/>
          </p:nvPr>
        </p:nvSpPr>
        <p:spPr>
          <a:xfrm>
            <a:off x="451262" y="2071316"/>
            <a:ext cx="11168245" cy="4114800"/>
          </a:xfrm>
        </p:spPr>
        <p:txBody>
          <a:bodyPr anchor="t">
            <a:normAutofit/>
          </a:bodyPr>
          <a:lstStyle/>
          <a:p>
            <a:r>
              <a:rPr lang="en-US" sz="3200" dirty="0"/>
              <a:t>Babies produce their first word when they are about 1yr old.</a:t>
            </a:r>
          </a:p>
          <a:p>
            <a:pPr marL="0" indent="0">
              <a:buNone/>
            </a:pPr>
            <a:endParaRPr lang="en-US" sz="3200" dirty="0"/>
          </a:p>
          <a:p>
            <a:r>
              <a:rPr lang="en-US" sz="3200" dirty="0"/>
              <a:t>BUT what babies say underestimates their linguistic knowledge.</a:t>
            </a:r>
          </a:p>
          <a:p>
            <a:pPr marL="0" indent="0">
              <a:buNone/>
            </a:pPr>
            <a:endParaRPr lang="en-US" sz="3200" dirty="0"/>
          </a:p>
          <a:p>
            <a:r>
              <a:rPr lang="en-US" sz="3200" dirty="0"/>
              <a:t>Language learning occurs even before birth, so researchers like Jenny </a:t>
            </a:r>
            <a:r>
              <a:rPr lang="en-US" sz="3200" dirty="0" err="1"/>
              <a:t>Saffran</a:t>
            </a:r>
            <a:r>
              <a:rPr lang="en-US" sz="3200" dirty="0"/>
              <a:t> (University of Wisconsin at Madison) want to know what happens up to the first year of life.</a:t>
            </a:r>
          </a:p>
          <a:p>
            <a:endParaRPr lang="en-US" sz="3200" dirty="0"/>
          </a:p>
          <a:p>
            <a:pPr marL="0" indent="0">
              <a:buNone/>
            </a:pPr>
            <a:endParaRPr lang="en-US" sz="2200" dirty="0"/>
          </a:p>
        </p:txBody>
      </p:sp>
    </p:spTree>
    <p:extLst>
      <p:ext uri="{BB962C8B-B14F-4D97-AF65-F5344CB8AC3E}">
        <p14:creationId xmlns:p14="http://schemas.microsoft.com/office/powerpoint/2010/main" val="1319306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F67DC-2753-254C-9C7D-52869C8B59ED}"/>
              </a:ext>
            </a:extLst>
          </p:cNvPr>
          <p:cNvSpPr>
            <a:spLocks noGrp="1"/>
          </p:cNvSpPr>
          <p:nvPr>
            <p:ph idx="1"/>
          </p:nvPr>
        </p:nvSpPr>
        <p:spPr>
          <a:xfrm>
            <a:off x="822960" y="1934529"/>
            <a:ext cx="6507480" cy="4351338"/>
          </a:xfrm>
        </p:spPr>
        <p:txBody>
          <a:bodyPr>
            <a:normAutofit fontScale="92500" lnSpcReduction="10000"/>
          </a:bodyPr>
          <a:lstStyle/>
          <a:p>
            <a:pPr marL="0" indent="0">
              <a:buNone/>
            </a:pPr>
            <a:r>
              <a:rPr lang="en-US" sz="3200" dirty="0">
                <a:solidFill>
                  <a:schemeClr val="accent2"/>
                </a:solidFill>
              </a:rPr>
              <a:t>LATE FETAL PERIOD</a:t>
            </a:r>
          </a:p>
          <a:p>
            <a:pPr marL="0" indent="0">
              <a:buNone/>
            </a:pPr>
            <a:endParaRPr lang="en-US" sz="3200" dirty="0"/>
          </a:p>
          <a:p>
            <a:pPr marL="0" indent="0">
              <a:buNone/>
            </a:pPr>
            <a:r>
              <a:rPr lang="en-US" sz="3200" dirty="0"/>
              <a:t>3</a:t>
            </a:r>
            <a:r>
              <a:rPr lang="en-US" sz="3200" baseline="30000" dirty="0"/>
              <a:t>rd</a:t>
            </a:r>
            <a:r>
              <a:rPr lang="en-US" sz="3200" dirty="0"/>
              <a:t> trimester of pregnancy, babies’ heart beats faster when they hear their mom’s voice than other people’s voices.</a:t>
            </a:r>
          </a:p>
          <a:p>
            <a:pPr marL="0" indent="0">
              <a:buNone/>
            </a:pPr>
            <a:endParaRPr lang="en-US" sz="3200" dirty="0"/>
          </a:p>
          <a:p>
            <a:pPr marL="0" indent="0">
              <a:buNone/>
            </a:pPr>
            <a:r>
              <a:rPr lang="en-US" sz="3200" dirty="0"/>
              <a:t>One can claim that this is because their mom’s voice is the loudest, but their mom’s digestive system is actually louder than their mom’s voice.</a:t>
            </a:r>
          </a:p>
        </p:txBody>
      </p:sp>
      <p:pic>
        <p:nvPicPr>
          <p:cNvPr id="3074" name="Picture 2" descr="Belly headphones are a popular baby registry item for pregnant moms but are  they safe for your baby? Find out how belly buds (and si… | Headphones,  Belly, Mom belly">
            <a:extLst>
              <a:ext uri="{FF2B5EF4-FFF2-40B4-BE49-F238E27FC236}">
                <a16:creationId xmlns:a16="http://schemas.microsoft.com/office/drawing/2014/main" id="{29A2A9E9-07D5-324F-907B-58AD63F54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8413" y="0"/>
            <a:ext cx="45735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92549CD-B23D-9D49-9C9F-6746CF9D5E1D}"/>
              </a:ext>
            </a:extLst>
          </p:cNvPr>
          <p:cNvSpPr>
            <a:spLocks noGrp="1"/>
          </p:cNvSpPr>
          <p:nvPr>
            <p:ph type="title"/>
          </p:nvPr>
        </p:nvSpPr>
        <p:spPr>
          <a:xfrm>
            <a:off x="0" y="-381000"/>
            <a:ext cx="12192000" cy="2315529"/>
          </a:xfrm>
          <a:solidFill>
            <a:schemeClr val="bg1"/>
          </a:solidFill>
        </p:spPr>
        <p:txBody>
          <a:bodyPr/>
          <a:lstStyle/>
          <a:p>
            <a:pPr algn="ctr"/>
            <a:r>
              <a:rPr lang="en-US" dirty="0">
                <a:solidFill>
                  <a:schemeClr val="accent2"/>
                </a:solidFill>
              </a:rPr>
              <a:t>Language development </a:t>
            </a:r>
            <a:br>
              <a:rPr lang="en-US" dirty="0">
                <a:solidFill>
                  <a:schemeClr val="accent2"/>
                </a:solidFill>
              </a:rPr>
            </a:br>
            <a:r>
              <a:rPr lang="en-US" dirty="0">
                <a:solidFill>
                  <a:schemeClr val="accent2"/>
                </a:solidFill>
              </a:rPr>
              <a:t>(aka becoming a native speaker)</a:t>
            </a:r>
          </a:p>
        </p:txBody>
      </p:sp>
    </p:spTree>
    <p:extLst>
      <p:ext uri="{BB962C8B-B14F-4D97-AF65-F5344CB8AC3E}">
        <p14:creationId xmlns:p14="http://schemas.microsoft.com/office/powerpoint/2010/main" val="2126490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F67DC-2753-254C-9C7D-52869C8B59ED}"/>
              </a:ext>
            </a:extLst>
          </p:cNvPr>
          <p:cNvSpPr>
            <a:spLocks noGrp="1"/>
          </p:cNvSpPr>
          <p:nvPr>
            <p:ph idx="1"/>
          </p:nvPr>
        </p:nvSpPr>
        <p:spPr>
          <a:xfrm>
            <a:off x="822960" y="1934529"/>
            <a:ext cx="5785658" cy="4351338"/>
          </a:xfrm>
        </p:spPr>
        <p:txBody>
          <a:bodyPr>
            <a:normAutofit fontScale="92500" lnSpcReduction="10000"/>
          </a:bodyPr>
          <a:lstStyle/>
          <a:p>
            <a:pPr marL="0" indent="0">
              <a:buNone/>
            </a:pPr>
            <a:r>
              <a:rPr lang="en-US" sz="3200" dirty="0">
                <a:solidFill>
                  <a:schemeClr val="accent2"/>
                </a:solidFill>
              </a:rPr>
              <a:t>6-8 months:</a:t>
            </a:r>
          </a:p>
          <a:p>
            <a:pPr marL="0" indent="0">
              <a:buNone/>
            </a:pPr>
            <a:endParaRPr lang="en-US" sz="3200" dirty="0"/>
          </a:p>
          <a:p>
            <a:pPr marL="0" indent="0">
              <a:buNone/>
            </a:pPr>
            <a:r>
              <a:rPr lang="en-US" sz="3200" dirty="0"/>
              <a:t>Vowels adapted to native language</a:t>
            </a:r>
          </a:p>
          <a:p>
            <a:pPr marL="0" indent="0">
              <a:buNone/>
            </a:pPr>
            <a:endParaRPr lang="en-US" sz="3200" dirty="0"/>
          </a:p>
          <a:p>
            <a:pPr marL="0" indent="0">
              <a:buNone/>
            </a:pPr>
            <a:r>
              <a:rPr lang="en-US" sz="3200" dirty="0"/>
              <a:t>Discover word boundaries in fluent speech</a:t>
            </a:r>
          </a:p>
          <a:p>
            <a:pPr marL="0" indent="0">
              <a:buNone/>
            </a:pPr>
            <a:endParaRPr lang="en-US" sz="3200" dirty="0"/>
          </a:p>
          <a:p>
            <a:pPr marL="0" indent="0">
              <a:buNone/>
            </a:pPr>
            <a:r>
              <a:rPr lang="en-US" sz="3200" dirty="0"/>
              <a:t>“Understand” highly frequent words</a:t>
            </a:r>
          </a:p>
        </p:txBody>
      </p:sp>
      <p:sp>
        <p:nvSpPr>
          <p:cNvPr id="2" name="Title 1">
            <a:extLst>
              <a:ext uri="{FF2B5EF4-FFF2-40B4-BE49-F238E27FC236}">
                <a16:creationId xmlns:a16="http://schemas.microsoft.com/office/drawing/2014/main" id="{392549CD-B23D-9D49-9C9F-6746CF9D5E1D}"/>
              </a:ext>
            </a:extLst>
          </p:cNvPr>
          <p:cNvSpPr>
            <a:spLocks noGrp="1"/>
          </p:cNvSpPr>
          <p:nvPr>
            <p:ph type="title"/>
          </p:nvPr>
        </p:nvSpPr>
        <p:spPr>
          <a:xfrm>
            <a:off x="0" y="-381000"/>
            <a:ext cx="12192000" cy="2315529"/>
          </a:xfrm>
          <a:solidFill>
            <a:schemeClr val="bg1"/>
          </a:solidFill>
        </p:spPr>
        <p:txBody>
          <a:bodyPr/>
          <a:lstStyle/>
          <a:p>
            <a:pPr algn="ctr"/>
            <a:r>
              <a:rPr lang="en-US" dirty="0">
                <a:solidFill>
                  <a:schemeClr val="accent2"/>
                </a:solidFill>
              </a:rPr>
              <a:t>Language development </a:t>
            </a:r>
            <a:br>
              <a:rPr lang="en-US" dirty="0">
                <a:solidFill>
                  <a:schemeClr val="accent2"/>
                </a:solidFill>
              </a:rPr>
            </a:br>
            <a:r>
              <a:rPr lang="en-US" dirty="0">
                <a:solidFill>
                  <a:schemeClr val="accent2"/>
                </a:solidFill>
              </a:rPr>
              <a:t>(aka becoming a native speaker)</a:t>
            </a:r>
          </a:p>
        </p:txBody>
      </p:sp>
      <p:sp>
        <p:nvSpPr>
          <p:cNvPr id="4" name="TextBox 3">
            <a:extLst>
              <a:ext uri="{FF2B5EF4-FFF2-40B4-BE49-F238E27FC236}">
                <a16:creationId xmlns:a16="http://schemas.microsoft.com/office/drawing/2014/main" id="{E52BE5C6-C52B-B946-835F-B9518CFC8CD0}"/>
              </a:ext>
            </a:extLst>
          </p:cNvPr>
          <p:cNvSpPr txBox="1"/>
          <p:nvPr/>
        </p:nvSpPr>
        <p:spPr>
          <a:xfrm>
            <a:off x="975360" y="5916535"/>
            <a:ext cx="4175760" cy="369332"/>
          </a:xfrm>
          <a:prstGeom prst="rect">
            <a:avLst/>
          </a:prstGeom>
          <a:noFill/>
        </p:spPr>
        <p:txBody>
          <a:bodyPr wrap="square" rtlCol="0">
            <a:spAutoFit/>
          </a:bodyPr>
          <a:lstStyle/>
          <a:p>
            <a:r>
              <a:rPr lang="en-US" dirty="0" err="1"/>
              <a:t>Bergelson</a:t>
            </a:r>
            <a:r>
              <a:rPr lang="en-US" dirty="0"/>
              <a:t> &amp; </a:t>
            </a:r>
            <a:r>
              <a:rPr lang="en-US" dirty="0" err="1"/>
              <a:t>Swingley</a:t>
            </a:r>
            <a:r>
              <a:rPr lang="en-US" dirty="0"/>
              <a:t> (2012)</a:t>
            </a:r>
          </a:p>
        </p:txBody>
      </p:sp>
      <p:pic>
        <p:nvPicPr>
          <p:cNvPr id="5122" name="Picture 2" descr="Social Communication Growth Charts | Reading Rockets">
            <a:extLst>
              <a:ext uri="{FF2B5EF4-FFF2-40B4-BE49-F238E27FC236}">
                <a16:creationId xmlns:a16="http://schemas.microsoft.com/office/drawing/2014/main" id="{2F12FFA0-5659-D841-B5A8-187BB279E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8618" y="2696688"/>
            <a:ext cx="5439872" cy="2827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6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F67DC-2753-254C-9C7D-52869C8B59ED}"/>
              </a:ext>
            </a:extLst>
          </p:cNvPr>
          <p:cNvSpPr>
            <a:spLocks noGrp="1"/>
          </p:cNvSpPr>
          <p:nvPr>
            <p:ph idx="1"/>
          </p:nvPr>
        </p:nvSpPr>
        <p:spPr>
          <a:xfrm>
            <a:off x="822960" y="1934529"/>
            <a:ext cx="5785658" cy="3704271"/>
          </a:xfrm>
        </p:spPr>
        <p:txBody>
          <a:bodyPr>
            <a:normAutofit lnSpcReduction="10000"/>
          </a:bodyPr>
          <a:lstStyle/>
          <a:p>
            <a:pPr marL="0" indent="0">
              <a:buNone/>
            </a:pPr>
            <a:r>
              <a:rPr lang="en-US" sz="3200" dirty="0">
                <a:solidFill>
                  <a:schemeClr val="accent2"/>
                </a:solidFill>
              </a:rPr>
              <a:t>8-12 months:</a:t>
            </a:r>
          </a:p>
          <a:p>
            <a:pPr marL="0" indent="0">
              <a:buNone/>
            </a:pPr>
            <a:endParaRPr lang="en-US" sz="3200" dirty="0"/>
          </a:p>
          <a:p>
            <a:pPr marL="0" indent="0">
              <a:buNone/>
            </a:pPr>
            <a:r>
              <a:rPr lang="en-US" sz="3200" dirty="0"/>
              <a:t>Consonants adapted to native language </a:t>
            </a:r>
            <a:r>
              <a:rPr lang="en-US" sz="2000" dirty="0"/>
              <a:t>(Japanese babies unable to differentiate RA from LA)</a:t>
            </a:r>
          </a:p>
          <a:p>
            <a:pPr marL="0" indent="0">
              <a:buNone/>
            </a:pPr>
            <a:endParaRPr lang="en-US" sz="3200" dirty="0"/>
          </a:p>
          <a:p>
            <a:pPr marL="0" indent="0">
              <a:buNone/>
            </a:pPr>
            <a:r>
              <a:rPr lang="en-US" sz="3200" dirty="0"/>
              <a:t>Remember words over a 2 week delay</a:t>
            </a:r>
          </a:p>
        </p:txBody>
      </p:sp>
      <p:sp>
        <p:nvSpPr>
          <p:cNvPr id="2" name="Title 1">
            <a:extLst>
              <a:ext uri="{FF2B5EF4-FFF2-40B4-BE49-F238E27FC236}">
                <a16:creationId xmlns:a16="http://schemas.microsoft.com/office/drawing/2014/main" id="{392549CD-B23D-9D49-9C9F-6746CF9D5E1D}"/>
              </a:ext>
            </a:extLst>
          </p:cNvPr>
          <p:cNvSpPr>
            <a:spLocks noGrp="1"/>
          </p:cNvSpPr>
          <p:nvPr>
            <p:ph type="title"/>
          </p:nvPr>
        </p:nvSpPr>
        <p:spPr>
          <a:xfrm>
            <a:off x="0" y="-381000"/>
            <a:ext cx="12192000" cy="2315529"/>
          </a:xfrm>
          <a:solidFill>
            <a:schemeClr val="bg1"/>
          </a:solidFill>
        </p:spPr>
        <p:txBody>
          <a:bodyPr/>
          <a:lstStyle/>
          <a:p>
            <a:pPr algn="ctr"/>
            <a:r>
              <a:rPr lang="en-US" dirty="0">
                <a:solidFill>
                  <a:schemeClr val="accent2"/>
                </a:solidFill>
              </a:rPr>
              <a:t>Language development </a:t>
            </a:r>
            <a:br>
              <a:rPr lang="en-US" dirty="0">
                <a:solidFill>
                  <a:schemeClr val="accent2"/>
                </a:solidFill>
              </a:rPr>
            </a:br>
            <a:r>
              <a:rPr lang="en-US" dirty="0">
                <a:solidFill>
                  <a:schemeClr val="accent2"/>
                </a:solidFill>
              </a:rPr>
              <a:t>(aka becoming a native speaker)</a:t>
            </a:r>
          </a:p>
        </p:txBody>
      </p:sp>
      <p:pic>
        <p:nvPicPr>
          <p:cNvPr id="6146" name="Picture 2" descr="What Do Babies &amp;amp; Toddlers Remember? – BabySparks">
            <a:extLst>
              <a:ext uri="{FF2B5EF4-FFF2-40B4-BE49-F238E27FC236}">
                <a16:creationId xmlns:a16="http://schemas.microsoft.com/office/drawing/2014/main" id="{B38733D2-274F-7B4C-A7D6-0585117CF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2347" y="2512472"/>
            <a:ext cx="4276360" cy="28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662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p:txBody>
          <a:bodyPr>
            <a:normAutofit/>
          </a:bodyPr>
          <a:lstStyle/>
          <a:p>
            <a:pPr marL="0" indent="0">
              <a:buNone/>
            </a:pPr>
            <a:r>
              <a:rPr lang="en-US" sz="3600" dirty="0"/>
              <a:t>All of this happens before we even produce our first word!</a:t>
            </a:r>
          </a:p>
          <a:p>
            <a:pPr marL="0" indent="0">
              <a:buNone/>
            </a:pPr>
            <a:endParaRPr lang="en-US" sz="3600" dirty="0"/>
          </a:p>
          <a:p>
            <a:pPr marL="0" indent="0">
              <a:buNone/>
            </a:pPr>
            <a:r>
              <a:rPr lang="en-US" sz="3600" dirty="0"/>
              <a:t>So… how do we learn our native language?</a:t>
            </a:r>
          </a:p>
        </p:txBody>
      </p:sp>
    </p:spTree>
    <p:extLst>
      <p:ext uri="{BB962C8B-B14F-4D97-AF65-F5344CB8AC3E}">
        <p14:creationId xmlns:p14="http://schemas.microsoft.com/office/powerpoint/2010/main" val="250402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6" name="Picture 4" descr="I'm Proof Mommy Can't Resist Statisticians Funny Statistician Baby Onesie, 0-3 Months White">
            <a:extLst>
              <a:ext uri="{FF2B5EF4-FFF2-40B4-BE49-F238E27FC236}">
                <a16:creationId xmlns:a16="http://schemas.microsoft.com/office/drawing/2014/main" id="{85873560-11DE-6C4D-8432-353294D664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632"/>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7320465" y="1075770"/>
            <a:ext cx="4599627" cy="4785599"/>
          </a:xfrm>
        </p:spPr>
        <p:txBody>
          <a:bodyPr>
            <a:normAutofit/>
          </a:bodyPr>
          <a:lstStyle/>
          <a:p>
            <a:pPr marL="0" indent="0">
              <a:buNone/>
            </a:pPr>
            <a:r>
              <a:rPr lang="en-US" sz="2000" dirty="0"/>
              <a:t>Languages are filled with statistical patterns…</a:t>
            </a:r>
          </a:p>
          <a:p>
            <a:pPr marL="0" indent="0">
              <a:buNone/>
            </a:pPr>
            <a:endParaRPr lang="en-US" sz="2000" dirty="0"/>
          </a:p>
          <a:p>
            <a:pPr marL="0" indent="0">
              <a:buNone/>
            </a:pPr>
            <a:r>
              <a:rPr lang="en-US" sz="2000" dirty="0"/>
              <a:t>Think about the sounds of speech, the music of speech, boundaries between words, meaning of words, morphemes, syntactic rules (e.g., word order)…</a:t>
            </a:r>
          </a:p>
          <a:p>
            <a:pPr marL="0" indent="0">
              <a:buNone/>
            </a:pPr>
            <a:endParaRPr lang="en-US" sz="2000" dirty="0"/>
          </a:p>
          <a:p>
            <a:pPr marL="0" indent="0">
              <a:buNone/>
            </a:pPr>
            <a:r>
              <a:rPr lang="en-US" sz="2000" dirty="0"/>
              <a:t>Babies are like statisticians. Their brains are very sensitive to probabilities based on frequencies.</a:t>
            </a:r>
          </a:p>
        </p:txBody>
      </p:sp>
    </p:spTree>
    <p:extLst>
      <p:ext uri="{BB962C8B-B14F-4D97-AF65-F5344CB8AC3E}">
        <p14:creationId xmlns:p14="http://schemas.microsoft.com/office/powerpoint/2010/main" val="3997196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I'm Proof Mommy Can't Resist Statisticians Funny Statistician Baby Onesie, 0-3 Months White">
            <a:extLst>
              <a:ext uri="{FF2B5EF4-FFF2-40B4-BE49-F238E27FC236}">
                <a16:creationId xmlns:a16="http://schemas.microsoft.com/office/drawing/2014/main" id="{85873560-11DE-6C4D-8432-353294D664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632"/>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7320465" y="1075770"/>
            <a:ext cx="4599627" cy="4785599"/>
          </a:xfrm>
        </p:spPr>
        <p:txBody>
          <a:bodyPr>
            <a:normAutofit/>
          </a:bodyPr>
          <a:lstStyle/>
          <a:p>
            <a:pPr marL="0" indent="0">
              <a:buNone/>
            </a:pPr>
            <a:r>
              <a:rPr lang="en-US" sz="2000" dirty="0"/>
              <a:t>Languages are filled with statistical patterns…</a:t>
            </a:r>
          </a:p>
          <a:p>
            <a:pPr marL="0" indent="0">
              <a:buNone/>
            </a:pPr>
            <a:endParaRPr lang="en-US" sz="2000" dirty="0"/>
          </a:p>
          <a:p>
            <a:pPr marL="0" indent="0">
              <a:buNone/>
            </a:pPr>
            <a:r>
              <a:rPr lang="en-US" sz="2000" dirty="0"/>
              <a:t>Think about the sounds of speech, </a:t>
            </a:r>
            <a:r>
              <a:rPr lang="en-US" sz="2000" dirty="0">
                <a:solidFill>
                  <a:schemeClr val="accent2"/>
                </a:solidFill>
              </a:rPr>
              <a:t>the music of speech</a:t>
            </a:r>
            <a:r>
              <a:rPr lang="en-US" sz="2000" dirty="0"/>
              <a:t>, boundaries between words, meaning of words, morphemes, syntactic rules (e.g., word order)…</a:t>
            </a:r>
          </a:p>
          <a:p>
            <a:pPr marL="0" indent="0">
              <a:buNone/>
            </a:pPr>
            <a:endParaRPr lang="en-US" sz="2000" dirty="0"/>
          </a:p>
          <a:p>
            <a:pPr marL="0" indent="0">
              <a:buNone/>
            </a:pPr>
            <a:r>
              <a:rPr lang="en-US" sz="2000" dirty="0"/>
              <a:t>Babies are like statisticians. Their brains are very sensitive to probabilities based on frequencies.</a:t>
            </a:r>
          </a:p>
        </p:txBody>
      </p:sp>
    </p:spTree>
    <p:extLst>
      <p:ext uri="{BB962C8B-B14F-4D97-AF65-F5344CB8AC3E}">
        <p14:creationId xmlns:p14="http://schemas.microsoft.com/office/powerpoint/2010/main" val="1152488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1"/>
            <a:ext cx="10515600" cy="4785360"/>
          </a:xfrm>
        </p:spPr>
        <p:txBody>
          <a:bodyPr>
            <a:normAutofit fontScale="92500" lnSpcReduction="10000"/>
          </a:bodyPr>
          <a:lstStyle/>
          <a:p>
            <a:pPr marL="0" indent="0">
              <a:buNone/>
            </a:pPr>
            <a:r>
              <a:rPr lang="en-US" sz="3600" dirty="0"/>
              <a:t>The music of speech varies from language to language.</a:t>
            </a:r>
          </a:p>
          <a:p>
            <a:pPr marL="0" indent="0">
              <a:buNone/>
            </a:pPr>
            <a:r>
              <a:rPr lang="en-US" sz="3600" dirty="0"/>
              <a:t>PAROXYTONE: stress on first syllable: </a:t>
            </a:r>
            <a:r>
              <a:rPr lang="en-US" sz="3600" dirty="0" err="1"/>
              <a:t>ORder</a:t>
            </a:r>
            <a:endParaRPr lang="en-US" sz="3600" dirty="0"/>
          </a:p>
          <a:p>
            <a:pPr marL="0" indent="0">
              <a:buNone/>
            </a:pPr>
            <a:r>
              <a:rPr lang="en-US" sz="3600" dirty="0"/>
              <a:t>OXYTONE: stress on last syllable: </a:t>
            </a:r>
            <a:r>
              <a:rPr lang="en-US" sz="3600" dirty="0" err="1"/>
              <a:t>coRRECT</a:t>
            </a:r>
            <a:endParaRPr lang="en-US" sz="3600" dirty="0"/>
          </a:p>
          <a:p>
            <a:pPr marL="0" indent="0">
              <a:buNone/>
            </a:pPr>
            <a:endParaRPr lang="en-US" sz="3600" dirty="0"/>
          </a:p>
          <a:p>
            <a:pPr marL="742950" indent="-742950">
              <a:buAutoNum type="arabicPeriod"/>
            </a:pPr>
            <a:r>
              <a:rPr lang="en-US" sz="3600" dirty="0"/>
              <a:t>Circle the stressed syllable of each English word. Are English di-syllabic words mostly oxytone or paroxytone?</a:t>
            </a:r>
          </a:p>
          <a:p>
            <a:pPr marL="742950" indent="-742950">
              <a:buAutoNum type="arabicPeriod"/>
            </a:pPr>
            <a:r>
              <a:rPr lang="en-US" sz="3600" dirty="0"/>
              <a:t>Google the translation of these English words into French. Write down the French words and circle the stress syllable of each word. Are French di-syllabic words mostly oxytone or paroxytone?</a:t>
            </a:r>
          </a:p>
          <a:p>
            <a:pPr marL="742950" indent="-742950">
              <a:buAutoNum type="arabicPeriod"/>
            </a:pPr>
            <a:endParaRPr lang="en-US" sz="3600" dirty="0"/>
          </a:p>
          <a:p>
            <a:pPr marL="0" indent="0">
              <a:buNone/>
            </a:pPr>
            <a:endParaRPr lang="en-US" sz="3600" dirty="0"/>
          </a:p>
          <a:p>
            <a:pPr marL="0" indent="0">
              <a:buNone/>
            </a:pPr>
            <a:endParaRPr lang="en-US" sz="3600" dirty="0"/>
          </a:p>
          <a:p>
            <a:pPr marL="0" indent="0">
              <a:buNone/>
            </a:pPr>
            <a:endParaRPr lang="en-US" sz="3600" dirty="0"/>
          </a:p>
          <a:p>
            <a:pPr marL="0" indent="0">
              <a:buNone/>
            </a:pPr>
            <a:endParaRPr lang="en-US" sz="3600" dirty="0"/>
          </a:p>
          <a:p>
            <a:pPr marL="0" indent="0">
              <a:buNone/>
            </a:pPr>
            <a:endParaRPr lang="en-US" sz="3600" dirty="0"/>
          </a:p>
        </p:txBody>
      </p:sp>
      <p:graphicFrame>
        <p:nvGraphicFramePr>
          <p:cNvPr id="2" name="Table 2">
            <a:extLst>
              <a:ext uri="{FF2B5EF4-FFF2-40B4-BE49-F238E27FC236}">
                <a16:creationId xmlns:a16="http://schemas.microsoft.com/office/drawing/2014/main" id="{6C9AD671-AB50-A34F-B94A-722B7C50C065}"/>
              </a:ext>
            </a:extLst>
          </p:cNvPr>
          <p:cNvGraphicFramePr>
            <a:graphicFrameLocks noGrp="1"/>
          </p:cNvGraphicFramePr>
          <p:nvPr>
            <p:extLst>
              <p:ext uri="{D42A27DB-BD31-4B8C-83A1-F6EECF244321}">
                <p14:modId xmlns:p14="http://schemas.microsoft.com/office/powerpoint/2010/main" val="790529432"/>
              </p:ext>
            </p:extLst>
          </p:nvPr>
        </p:nvGraphicFramePr>
        <p:xfrm>
          <a:off x="1559560" y="5379719"/>
          <a:ext cx="8483600" cy="1158240"/>
        </p:xfrm>
        <a:graphic>
          <a:graphicData uri="http://schemas.openxmlformats.org/drawingml/2006/table">
            <a:tbl>
              <a:tblPr firstRow="1" bandRow="1">
                <a:tableStyleId>{8799B23B-EC83-4686-B30A-512413B5E67A}</a:tableStyleId>
              </a:tblPr>
              <a:tblGrid>
                <a:gridCol w="1696720">
                  <a:extLst>
                    <a:ext uri="{9D8B030D-6E8A-4147-A177-3AD203B41FA5}">
                      <a16:colId xmlns:a16="http://schemas.microsoft.com/office/drawing/2014/main" val="1343334759"/>
                    </a:ext>
                  </a:extLst>
                </a:gridCol>
                <a:gridCol w="1696720">
                  <a:extLst>
                    <a:ext uri="{9D8B030D-6E8A-4147-A177-3AD203B41FA5}">
                      <a16:colId xmlns:a16="http://schemas.microsoft.com/office/drawing/2014/main" val="3017420099"/>
                    </a:ext>
                  </a:extLst>
                </a:gridCol>
                <a:gridCol w="1696720">
                  <a:extLst>
                    <a:ext uri="{9D8B030D-6E8A-4147-A177-3AD203B41FA5}">
                      <a16:colId xmlns:a16="http://schemas.microsoft.com/office/drawing/2014/main" val="3080021846"/>
                    </a:ext>
                  </a:extLst>
                </a:gridCol>
                <a:gridCol w="1696720">
                  <a:extLst>
                    <a:ext uri="{9D8B030D-6E8A-4147-A177-3AD203B41FA5}">
                      <a16:colId xmlns:a16="http://schemas.microsoft.com/office/drawing/2014/main" val="2734495627"/>
                    </a:ext>
                  </a:extLst>
                </a:gridCol>
                <a:gridCol w="1696720">
                  <a:extLst>
                    <a:ext uri="{9D8B030D-6E8A-4147-A177-3AD203B41FA5}">
                      <a16:colId xmlns:a16="http://schemas.microsoft.com/office/drawing/2014/main" val="230238137"/>
                    </a:ext>
                  </a:extLst>
                </a:gridCol>
              </a:tblGrid>
              <a:tr h="370840">
                <a:tc>
                  <a:txBody>
                    <a:bodyPr/>
                    <a:lstStyle/>
                    <a:p>
                      <a:r>
                        <a:rPr lang="en-US" sz="3200" dirty="0"/>
                        <a:t>English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200" b="0" dirty="0"/>
                        <a:t>cookie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200" b="0" dirty="0"/>
                        <a:t>baby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200" b="0" dirty="0"/>
                        <a:t>mommy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200" b="0" dirty="0"/>
                        <a:t>coffee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8303820"/>
                  </a:ext>
                </a:extLst>
              </a:tr>
              <a:tr h="370840">
                <a:tc>
                  <a:txBody>
                    <a:bodyPr/>
                    <a:lstStyle/>
                    <a:p>
                      <a:r>
                        <a:rPr lang="en-US" sz="3200" b="1" dirty="0"/>
                        <a:t>French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3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3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0526633"/>
                  </a:ext>
                </a:extLst>
              </a:tr>
            </a:tbl>
          </a:graphicData>
        </a:graphic>
      </p:graphicFrame>
      <p:pic>
        <p:nvPicPr>
          <p:cNvPr id="4" name="Picture 2">
            <a:extLst>
              <a:ext uri="{FF2B5EF4-FFF2-40B4-BE49-F238E27FC236}">
                <a16:creationId xmlns:a16="http://schemas.microsoft.com/office/drawing/2014/main" id="{F0721781-8190-7347-ADA2-0535EED17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15600" y="320042"/>
            <a:ext cx="1346200" cy="134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913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I'm Proof Mommy Can't Resist Statisticians Funny Statistician Baby Onesie, 0-3 Months White">
            <a:extLst>
              <a:ext uri="{FF2B5EF4-FFF2-40B4-BE49-F238E27FC236}">
                <a16:creationId xmlns:a16="http://schemas.microsoft.com/office/drawing/2014/main" id="{85873560-11DE-6C4D-8432-353294D664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632"/>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7320465" y="1075770"/>
            <a:ext cx="4599627" cy="4785599"/>
          </a:xfrm>
        </p:spPr>
        <p:txBody>
          <a:bodyPr>
            <a:normAutofit/>
          </a:bodyPr>
          <a:lstStyle/>
          <a:p>
            <a:pPr marL="0" indent="0">
              <a:buNone/>
            </a:pPr>
            <a:r>
              <a:rPr lang="en-US" sz="2000" dirty="0"/>
              <a:t>Languages are filled with statistical patterns…</a:t>
            </a:r>
          </a:p>
          <a:p>
            <a:pPr marL="0" indent="0">
              <a:buNone/>
            </a:pPr>
            <a:endParaRPr lang="en-US" sz="2000" dirty="0"/>
          </a:p>
          <a:p>
            <a:pPr marL="0" indent="0">
              <a:buNone/>
            </a:pPr>
            <a:r>
              <a:rPr lang="en-US" sz="2000" dirty="0"/>
              <a:t>Think about the sounds of speech, the music of speech, </a:t>
            </a:r>
            <a:r>
              <a:rPr lang="en-US" sz="2000" dirty="0">
                <a:solidFill>
                  <a:schemeClr val="accent2"/>
                </a:solidFill>
              </a:rPr>
              <a:t>boundaries between words</a:t>
            </a:r>
            <a:r>
              <a:rPr lang="en-US" sz="2000" dirty="0"/>
              <a:t>, meaning of words, morphemes, syntactic rules (e.g., word order)…</a:t>
            </a:r>
          </a:p>
          <a:p>
            <a:pPr marL="0" indent="0">
              <a:buNone/>
            </a:pPr>
            <a:endParaRPr lang="en-US" sz="2000" dirty="0"/>
          </a:p>
          <a:p>
            <a:pPr marL="0" indent="0">
              <a:buNone/>
            </a:pPr>
            <a:r>
              <a:rPr lang="en-US" sz="2000" dirty="0"/>
              <a:t>Babies are like statisticians. Their brains are very sensitive to probabilities based on frequencies.</a:t>
            </a:r>
          </a:p>
        </p:txBody>
      </p:sp>
    </p:spTree>
    <p:extLst>
      <p:ext uri="{BB962C8B-B14F-4D97-AF65-F5344CB8AC3E}">
        <p14:creationId xmlns:p14="http://schemas.microsoft.com/office/powerpoint/2010/main" val="3712449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0"/>
            <a:ext cx="10515600" cy="5856923"/>
          </a:xfrm>
        </p:spPr>
        <p:txBody>
          <a:bodyPr>
            <a:normAutofit/>
          </a:bodyPr>
          <a:lstStyle/>
          <a:p>
            <a:pPr marL="0" indent="0">
              <a:buNone/>
            </a:pPr>
            <a:r>
              <a:rPr lang="en-US" sz="3600" dirty="0">
                <a:hlinkClick r:id="rId3"/>
              </a:rPr>
              <a:t>https://www.netflix.com/watch/80117843?trackId=14277283&amp;tctx=-97%2C-97%2C%2C%2C%2C</a:t>
            </a:r>
            <a:endParaRPr lang="en-US" sz="3600" dirty="0"/>
          </a:p>
          <a:p>
            <a:pPr marL="0" indent="0">
              <a:buNone/>
            </a:pPr>
            <a:r>
              <a:rPr lang="en-US" sz="3600" dirty="0"/>
              <a:t>(9:06-12:27)</a:t>
            </a:r>
          </a:p>
          <a:p>
            <a:pPr marL="0" indent="0">
              <a:buNone/>
            </a:pPr>
            <a:endParaRPr lang="en-US" sz="3600" dirty="0"/>
          </a:p>
        </p:txBody>
      </p:sp>
    </p:spTree>
    <p:extLst>
      <p:ext uri="{BB962C8B-B14F-4D97-AF65-F5344CB8AC3E}">
        <p14:creationId xmlns:p14="http://schemas.microsoft.com/office/powerpoint/2010/main" val="697113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0"/>
            <a:ext cx="10515600" cy="5856923"/>
          </a:xfrm>
        </p:spPr>
        <p:txBody>
          <a:bodyPr>
            <a:normAutofit/>
          </a:bodyPr>
          <a:lstStyle/>
          <a:p>
            <a:pPr marL="0" indent="0">
              <a:buNone/>
            </a:pPr>
            <a:r>
              <a:rPr lang="en-US" sz="3600" dirty="0">
                <a:solidFill>
                  <a:schemeClr val="accent2"/>
                </a:solidFill>
              </a:rPr>
              <a:t>More about boundaries between words</a:t>
            </a:r>
          </a:p>
          <a:p>
            <a:pPr marL="0" indent="0">
              <a:buNone/>
            </a:pPr>
            <a:endParaRPr lang="en-US" sz="3600" dirty="0"/>
          </a:p>
          <a:p>
            <a:pPr marL="0" indent="0">
              <a:buNone/>
            </a:pPr>
            <a:r>
              <a:rPr lang="en-US" sz="3600" dirty="0"/>
              <a:t>Imagine you are a baby and you hear ”pretty baby”. How do you know these are 2 words and not 1 word (</a:t>
            </a:r>
            <a:r>
              <a:rPr lang="en-US" sz="3600" dirty="0" err="1"/>
              <a:t>prettybaby</a:t>
            </a:r>
            <a:r>
              <a:rPr lang="en-US" sz="3600" dirty="0"/>
              <a:t>) or 4 words (pre </a:t>
            </a:r>
            <a:r>
              <a:rPr lang="en-US" sz="3600" dirty="0" err="1"/>
              <a:t>tty</a:t>
            </a:r>
            <a:r>
              <a:rPr lang="en-US" sz="3600" dirty="0"/>
              <a:t> </a:t>
            </a:r>
            <a:r>
              <a:rPr lang="en-US" sz="3600" dirty="0" err="1"/>
              <a:t>ba</a:t>
            </a:r>
            <a:r>
              <a:rPr lang="en-US" sz="3600" dirty="0"/>
              <a:t> by)?</a:t>
            </a:r>
          </a:p>
          <a:p>
            <a:pPr marL="0" indent="0">
              <a:buNone/>
            </a:pPr>
            <a:endParaRPr lang="en-US" sz="3600" dirty="0"/>
          </a:p>
        </p:txBody>
      </p:sp>
      <p:pic>
        <p:nvPicPr>
          <p:cNvPr id="3" name="Picture 2">
            <a:extLst>
              <a:ext uri="{FF2B5EF4-FFF2-40B4-BE49-F238E27FC236}">
                <a16:creationId xmlns:a16="http://schemas.microsoft.com/office/drawing/2014/main" id="{96057209-6B2F-8749-84FE-809551811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0700" y="5207000"/>
            <a:ext cx="1346200" cy="134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4528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0"/>
            <a:ext cx="10576560" cy="5856923"/>
          </a:xfrm>
        </p:spPr>
        <p:txBody>
          <a:bodyPr>
            <a:normAutofit lnSpcReduction="10000"/>
          </a:bodyPr>
          <a:lstStyle/>
          <a:p>
            <a:pPr marL="0" indent="0">
              <a:buNone/>
            </a:pPr>
            <a:r>
              <a:rPr lang="en-US" sz="3600" dirty="0"/>
              <a:t>How do we know whether babies can track statistical regularities?</a:t>
            </a:r>
          </a:p>
          <a:p>
            <a:pPr marL="0" indent="0">
              <a:buNone/>
            </a:pPr>
            <a:endParaRPr lang="en-US" sz="3600" dirty="0"/>
          </a:p>
          <a:p>
            <a:pPr marL="0" indent="0">
              <a:buNone/>
            </a:pPr>
            <a:r>
              <a:rPr lang="en-US" sz="3600" dirty="0" err="1"/>
              <a:t>Saffran</a:t>
            </a:r>
            <a:r>
              <a:rPr lang="en-US" sz="3600" dirty="0"/>
              <a:t>, Newport &amp; </a:t>
            </a:r>
            <a:r>
              <a:rPr lang="en-US" sz="3600" dirty="0" err="1"/>
              <a:t>Aslin</a:t>
            </a:r>
            <a:r>
              <a:rPr lang="en-US" sz="3600" dirty="0"/>
              <a:t> (1996):</a:t>
            </a:r>
          </a:p>
          <a:p>
            <a:pPr marL="0" indent="0">
              <a:buNone/>
            </a:pPr>
            <a:r>
              <a:rPr lang="en-US" sz="3600" dirty="0"/>
              <a:t>8-month </a:t>
            </a:r>
            <a:r>
              <a:rPr lang="en-US" sz="3600" dirty="0" err="1"/>
              <a:t>olds</a:t>
            </a:r>
            <a:r>
              <a:rPr lang="en-US" sz="3600" dirty="0"/>
              <a:t> listened to an artificial language for 2 min:</a:t>
            </a:r>
          </a:p>
          <a:p>
            <a:pPr marL="0" indent="0">
              <a:buNone/>
            </a:pPr>
            <a:r>
              <a:rPr lang="en-US" sz="3600" dirty="0"/>
              <a:t>tokibugikobagopilatipolutokibugopilatipolutokibugikobagopilagikobagopilagikobatokibugopilatipolugikobatipolu</a:t>
            </a:r>
          </a:p>
          <a:p>
            <a:pPr marL="0" indent="0">
              <a:buNone/>
            </a:pPr>
            <a:endParaRPr lang="en-US" sz="3600" dirty="0"/>
          </a:p>
          <a:p>
            <a:pPr marL="0" indent="0">
              <a:buNone/>
            </a:pPr>
            <a:r>
              <a:rPr lang="en-US" sz="3600" dirty="0"/>
              <a:t>Can you divide this speech stream into words?</a:t>
            </a:r>
          </a:p>
          <a:p>
            <a:pPr marL="0" indent="0">
              <a:buNone/>
            </a:pPr>
            <a:r>
              <a:rPr lang="en-US" sz="3600" dirty="0"/>
              <a:t>Do you see any IF-THEN patterns?</a:t>
            </a:r>
          </a:p>
        </p:txBody>
      </p:sp>
      <p:pic>
        <p:nvPicPr>
          <p:cNvPr id="3" name="Picture 2">
            <a:extLst>
              <a:ext uri="{FF2B5EF4-FFF2-40B4-BE49-F238E27FC236}">
                <a16:creationId xmlns:a16="http://schemas.microsoft.com/office/drawing/2014/main" id="{96057209-6B2F-8749-84FE-809551811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0700" y="5207000"/>
            <a:ext cx="1346200" cy="134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3521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0"/>
            <a:ext cx="10683240" cy="5856923"/>
          </a:xfrm>
        </p:spPr>
        <p:txBody>
          <a:bodyPr>
            <a:normAutofit lnSpcReduction="10000"/>
          </a:bodyPr>
          <a:lstStyle/>
          <a:p>
            <a:pPr marL="0" indent="0">
              <a:buNone/>
            </a:pPr>
            <a:r>
              <a:rPr lang="en-US" sz="3600" dirty="0"/>
              <a:t>How do we know whether babies can track statistical regularities?</a:t>
            </a:r>
          </a:p>
          <a:p>
            <a:pPr marL="0" indent="0">
              <a:buNone/>
            </a:pPr>
            <a:endParaRPr lang="en-US" sz="3600" dirty="0"/>
          </a:p>
          <a:p>
            <a:pPr marL="0" indent="0">
              <a:buNone/>
            </a:pPr>
            <a:r>
              <a:rPr lang="en-US" sz="3600" dirty="0" err="1"/>
              <a:t>Saffran</a:t>
            </a:r>
            <a:r>
              <a:rPr lang="en-US" sz="3600" dirty="0"/>
              <a:t>, Newport &amp; </a:t>
            </a:r>
            <a:r>
              <a:rPr lang="en-US" sz="3600" dirty="0" err="1"/>
              <a:t>Aslin</a:t>
            </a:r>
            <a:r>
              <a:rPr lang="en-US" sz="3600" dirty="0"/>
              <a:t> (1996):</a:t>
            </a:r>
          </a:p>
          <a:p>
            <a:pPr marL="0" indent="0">
              <a:buNone/>
            </a:pPr>
            <a:r>
              <a:rPr lang="en-US" sz="3600" dirty="0"/>
              <a:t>8-month </a:t>
            </a:r>
            <a:r>
              <a:rPr lang="en-US" sz="3600" dirty="0" err="1"/>
              <a:t>olds</a:t>
            </a:r>
            <a:r>
              <a:rPr lang="en-US" sz="3600" dirty="0"/>
              <a:t> listened to an artificial language for 2 min:</a:t>
            </a:r>
          </a:p>
          <a:p>
            <a:pPr marL="0" indent="0">
              <a:buNone/>
            </a:pPr>
            <a:r>
              <a:rPr lang="en-US" sz="3600" dirty="0">
                <a:solidFill>
                  <a:srgbClr val="00B050"/>
                </a:solidFill>
              </a:rPr>
              <a:t>Tokibu</a:t>
            </a:r>
            <a:r>
              <a:rPr lang="en-US" sz="3600" dirty="0">
                <a:solidFill>
                  <a:schemeClr val="accent2"/>
                </a:solidFill>
              </a:rPr>
              <a:t>gikoba</a:t>
            </a:r>
            <a:r>
              <a:rPr lang="en-US" sz="3600" dirty="0">
                <a:solidFill>
                  <a:schemeClr val="accent5"/>
                </a:solidFill>
              </a:rPr>
              <a:t>gopila</a:t>
            </a:r>
            <a:r>
              <a:rPr lang="en-US" sz="3600" dirty="0">
                <a:solidFill>
                  <a:srgbClr val="FF0000"/>
                </a:solidFill>
              </a:rPr>
              <a:t>tipolu</a:t>
            </a:r>
            <a:r>
              <a:rPr lang="en-US" sz="3600" dirty="0">
                <a:solidFill>
                  <a:srgbClr val="00B050"/>
                </a:solidFill>
              </a:rPr>
              <a:t>tokibu</a:t>
            </a:r>
            <a:r>
              <a:rPr lang="en-US" sz="3600" dirty="0">
                <a:solidFill>
                  <a:schemeClr val="accent5"/>
                </a:solidFill>
              </a:rPr>
              <a:t>gopila</a:t>
            </a:r>
            <a:r>
              <a:rPr lang="en-US" sz="3600" dirty="0">
                <a:solidFill>
                  <a:srgbClr val="FF0000"/>
                </a:solidFill>
              </a:rPr>
              <a:t>tipolu</a:t>
            </a:r>
            <a:r>
              <a:rPr lang="en-US" sz="3600" dirty="0">
                <a:solidFill>
                  <a:srgbClr val="00B050"/>
                </a:solidFill>
              </a:rPr>
              <a:t>tokibu</a:t>
            </a:r>
            <a:r>
              <a:rPr lang="en-US" sz="3600" dirty="0">
                <a:solidFill>
                  <a:schemeClr val="accent2"/>
                </a:solidFill>
              </a:rPr>
              <a:t>gikoba</a:t>
            </a:r>
            <a:r>
              <a:rPr lang="en-US" sz="3600" dirty="0">
                <a:solidFill>
                  <a:schemeClr val="accent5"/>
                </a:solidFill>
              </a:rPr>
              <a:t>gopila</a:t>
            </a:r>
            <a:r>
              <a:rPr lang="en-US" sz="3600" dirty="0">
                <a:solidFill>
                  <a:schemeClr val="accent2"/>
                </a:solidFill>
              </a:rPr>
              <a:t>gikoba</a:t>
            </a:r>
            <a:r>
              <a:rPr lang="en-US" sz="3600" dirty="0">
                <a:solidFill>
                  <a:schemeClr val="accent5"/>
                </a:solidFill>
              </a:rPr>
              <a:t>gopila</a:t>
            </a:r>
            <a:r>
              <a:rPr lang="en-US" sz="3600" dirty="0">
                <a:solidFill>
                  <a:schemeClr val="accent2"/>
                </a:solidFill>
              </a:rPr>
              <a:t>gikoba</a:t>
            </a:r>
            <a:r>
              <a:rPr lang="en-US" sz="3600" dirty="0">
                <a:solidFill>
                  <a:srgbClr val="00B050"/>
                </a:solidFill>
              </a:rPr>
              <a:t>tokibu</a:t>
            </a:r>
            <a:r>
              <a:rPr lang="en-US" sz="3600" dirty="0">
                <a:solidFill>
                  <a:schemeClr val="accent5"/>
                </a:solidFill>
              </a:rPr>
              <a:t>gopila</a:t>
            </a:r>
            <a:r>
              <a:rPr lang="en-US" sz="3600" dirty="0">
                <a:solidFill>
                  <a:srgbClr val="FF0000"/>
                </a:solidFill>
              </a:rPr>
              <a:t>tipolu</a:t>
            </a:r>
            <a:r>
              <a:rPr lang="en-US" sz="3600" dirty="0">
                <a:solidFill>
                  <a:schemeClr val="accent2"/>
                </a:solidFill>
              </a:rPr>
              <a:t>gikoba</a:t>
            </a:r>
            <a:r>
              <a:rPr lang="en-US" sz="3600" dirty="0">
                <a:solidFill>
                  <a:srgbClr val="FF0000"/>
                </a:solidFill>
              </a:rPr>
              <a:t>tipolu</a:t>
            </a:r>
          </a:p>
          <a:p>
            <a:pPr marL="0" indent="0">
              <a:buNone/>
            </a:pPr>
            <a:endParaRPr lang="en-US" sz="3600" dirty="0">
              <a:solidFill>
                <a:srgbClr val="FF0000"/>
              </a:solidFill>
            </a:endParaRPr>
          </a:p>
          <a:p>
            <a:pPr marL="0" indent="0">
              <a:buNone/>
            </a:pPr>
            <a:r>
              <a:rPr lang="en-US" sz="3600" dirty="0">
                <a:hlinkClick r:id="rId3"/>
              </a:rPr>
              <a:t>https://www.netflix.com/watch/80117843?trackId=14277283&amp;tctx=-97%2C-97%2C%2C%2C%2C</a:t>
            </a:r>
            <a:endParaRPr lang="en-US" sz="3600" dirty="0"/>
          </a:p>
          <a:p>
            <a:pPr marL="0" indent="0">
              <a:buNone/>
            </a:pPr>
            <a:r>
              <a:rPr lang="en-US" sz="3600" dirty="0"/>
              <a:t>(23:38-27:50)</a:t>
            </a:r>
          </a:p>
          <a:p>
            <a:pPr marL="0" indent="0">
              <a:buNone/>
            </a:pPr>
            <a:endParaRPr lang="en-US" sz="3600" dirty="0"/>
          </a:p>
        </p:txBody>
      </p:sp>
      <p:pic>
        <p:nvPicPr>
          <p:cNvPr id="3" name="Picture 2">
            <a:extLst>
              <a:ext uri="{FF2B5EF4-FFF2-40B4-BE49-F238E27FC236}">
                <a16:creationId xmlns:a16="http://schemas.microsoft.com/office/drawing/2014/main" id="{96057209-6B2F-8749-84FE-8095518111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0700" y="5207000"/>
            <a:ext cx="1346200" cy="134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2994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0"/>
            <a:ext cx="10576560" cy="5856923"/>
          </a:xfrm>
        </p:spPr>
        <p:txBody>
          <a:bodyPr>
            <a:normAutofit/>
          </a:bodyPr>
          <a:lstStyle/>
          <a:p>
            <a:pPr marL="0" indent="0">
              <a:buNone/>
            </a:pPr>
            <a:r>
              <a:rPr lang="en-US" sz="3600" dirty="0"/>
              <a:t>Can babies track statistic regularities in non-linguistic input? Think of melodies, actions, social cues.</a:t>
            </a:r>
          </a:p>
          <a:p>
            <a:pPr marL="0" indent="0">
              <a:buNone/>
            </a:pPr>
            <a:endParaRPr lang="en-US" sz="3600" dirty="0"/>
          </a:p>
          <a:p>
            <a:pPr marL="0" indent="0">
              <a:buNone/>
            </a:pPr>
            <a:r>
              <a:rPr lang="en-US" sz="3600" dirty="0"/>
              <a:t>What about monkeys?</a:t>
            </a:r>
          </a:p>
          <a:p>
            <a:pPr marL="0" indent="0">
              <a:buNone/>
            </a:pPr>
            <a:endParaRPr lang="en-US" sz="3600" dirty="0"/>
          </a:p>
          <a:p>
            <a:pPr marL="0" indent="0">
              <a:buNone/>
            </a:pPr>
            <a:r>
              <a:rPr lang="en-US" sz="3600" dirty="0"/>
              <a:t>What about rats?</a:t>
            </a:r>
          </a:p>
          <a:p>
            <a:pPr marL="0" indent="0">
              <a:buNone/>
            </a:pPr>
            <a:endParaRPr lang="en-US" sz="3600" dirty="0"/>
          </a:p>
        </p:txBody>
      </p:sp>
      <p:pic>
        <p:nvPicPr>
          <p:cNvPr id="3" name="Picture 2">
            <a:extLst>
              <a:ext uri="{FF2B5EF4-FFF2-40B4-BE49-F238E27FC236}">
                <a16:creationId xmlns:a16="http://schemas.microsoft.com/office/drawing/2014/main" id="{96057209-6B2F-8749-84FE-809551811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0700" y="5207000"/>
            <a:ext cx="1346200" cy="134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6126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0"/>
            <a:ext cx="10668000" cy="6324600"/>
          </a:xfrm>
        </p:spPr>
        <p:txBody>
          <a:bodyPr>
            <a:normAutofit fontScale="85000" lnSpcReduction="10000"/>
          </a:bodyPr>
          <a:lstStyle/>
          <a:p>
            <a:pPr marL="0" indent="0">
              <a:buNone/>
            </a:pPr>
            <a:r>
              <a:rPr lang="en-US" sz="3600" dirty="0">
                <a:solidFill>
                  <a:schemeClr val="accent2"/>
                </a:solidFill>
              </a:rPr>
              <a:t>How do </a:t>
            </a:r>
            <a:r>
              <a:rPr lang="en-US" sz="3600" b="1" dirty="0">
                <a:solidFill>
                  <a:schemeClr val="accent2"/>
                </a:solidFill>
              </a:rPr>
              <a:t>bilingual</a:t>
            </a:r>
            <a:r>
              <a:rPr lang="en-US" sz="3600" dirty="0">
                <a:solidFill>
                  <a:schemeClr val="accent2"/>
                </a:solidFill>
              </a:rPr>
              <a:t> babies track statistical regularities? </a:t>
            </a:r>
          </a:p>
          <a:p>
            <a:pPr marL="0" indent="0">
              <a:buNone/>
            </a:pPr>
            <a:r>
              <a:rPr lang="en-US" sz="3600" dirty="0"/>
              <a:t>They must figure out that the input is coming from two languages and they must track language input separately for each language.</a:t>
            </a:r>
          </a:p>
          <a:p>
            <a:pPr marL="0" indent="0">
              <a:buNone/>
            </a:pPr>
            <a:endParaRPr lang="en-US" sz="3600" dirty="0"/>
          </a:p>
          <a:p>
            <a:pPr marL="0" indent="0">
              <a:buNone/>
            </a:pPr>
            <a:r>
              <a:rPr lang="en-US" sz="3600" dirty="0"/>
              <a:t>Studies examining statistical learning in bilinguals have focused on 2 goals:</a:t>
            </a:r>
          </a:p>
          <a:p>
            <a:pPr marL="742950" indent="-742950">
              <a:buAutoNum type="arabicPeriod"/>
            </a:pPr>
            <a:r>
              <a:rPr lang="en-US" sz="3600" dirty="0"/>
              <a:t>To identify whether bilinguals differ from monolinguals in how they track distributional regularities</a:t>
            </a:r>
          </a:p>
          <a:p>
            <a:pPr marL="742950" indent="-742950">
              <a:buAutoNum type="arabicPeriod"/>
            </a:pPr>
            <a:r>
              <a:rPr lang="en-US" sz="3600" dirty="0"/>
              <a:t>To determine how learners are capable of tracking multiple inputs, an ability important in becoming proficient in more than one language.</a:t>
            </a:r>
          </a:p>
          <a:p>
            <a:pPr marL="0" indent="0">
              <a:buNone/>
            </a:pPr>
            <a:r>
              <a:rPr lang="en-US" dirty="0"/>
              <a:t>To read a summary of studies on the topic, read:</a:t>
            </a:r>
          </a:p>
          <a:p>
            <a:pPr marL="0" indent="0">
              <a:buNone/>
            </a:pPr>
            <a:r>
              <a:rPr lang="en-US" dirty="0"/>
              <a:t>Weiss, Schwob, &amp; </a:t>
            </a:r>
            <a:r>
              <a:rPr lang="en-US" dirty="0" err="1"/>
              <a:t>Lebkuecher</a:t>
            </a:r>
            <a:r>
              <a:rPr lang="en-US" dirty="0"/>
              <a:t> (2020). Bilingualism and statistical learning: Lessons from studies using artificial languages. </a:t>
            </a:r>
            <a:r>
              <a:rPr lang="en-US" i="1" dirty="0"/>
              <a:t>Bilingualism: Language and Cognition.</a:t>
            </a:r>
            <a:endParaRPr lang="en-US" dirty="0"/>
          </a:p>
        </p:txBody>
      </p:sp>
    </p:spTree>
    <p:extLst>
      <p:ext uri="{BB962C8B-B14F-4D97-AF65-F5344CB8AC3E}">
        <p14:creationId xmlns:p14="http://schemas.microsoft.com/office/powerpoint/2010/main" val="3940680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DA2AAD-46BF-8D4C-8176-13D595DC661B}"/>
              </a:ext>
            </a:extLst>
          </p:cNvPr>
          <p:cNvSpPr>
            <a:spLocks noGrp="1"/>
          </p:cNvSpPr>
          <p:nvPr>
            <p:ph idx="1"/>
          </p:nvPr>
        </p:nvSpPr>
        <p:spPr>
          <a:xfrm>
            <a:off x="838200" y="320040"/>
            <a:ext cx="10668000" cy="6324600"/>
          </a:xfrm>
        </p:spPr>
        <p:txBody>
          <a:bodyPr>
            <a:normAutofit fontScale="92500"/>
          </a:bodyPr>
          <a:lstStyle/>
          <a:p>
            <a:pPr marL="0" indent="0">
              <a:buNone/>
            </a:pPr>
            <a:r>
              <a:rPr lang="en-US" sz="3600" dirty="0"/>
              <a:t>How do bilingual babies track statistical regularities? </a:t>
            </a:r>
          </a:p>
          <a:p>
            <a:pPr marL="0" indent="0">
              <a:buNone/>
            </a:pPr>
            <a:r>
              <a:rPr lang="en-US" sz="3600" dirty="0"/>
              <a:t>They must figure out that the input is coming from two languages and they must track language input separately for each language.</a:t>
            </a:r>
          </a:p>
          <a:p>
            <a:pPr marL="0" indent="0">
              <a:buNone/>
            </a:pPr>
            <a:endParaRPr lang="en-US" sz="3600" dirty="0"/>
          </a:p>
          <a:p>
            <a:pPr marL="0" indent="0">
              <a:buNone/>
            </a:pPr>
            <a:r>
              <a:rPr lang="en-US" sz="3600" dirty="0"/>
              <a:t>Studies examining statistical learning in bilinguals have focused on 2 goals:</a:t>
            </a:r>
          </a:p>
          <a:p>
            <a:pPr marL="742950" indent="-742950">
              <a:buAutoNum type="arabicPeriod"/>
            </a:pPr>
            <a:r>
              <a:rPr lang="en-US" sz="3600" dirty="0"/>
              <a:t>To </a:t>
            </a:r>
            <a:r>
              <a:rPr lang="en-US" sz="3600" dirty="0">
                <a:solidFill>
                  <a:schemeClr val="accent2"/>
                </a:solidFill>
              </a:rPr>
              <a:t>identify whether bilinguals differ from monolinguals in how they track distributional regularities</a:t>
            </a:r>
          </a:p>
          <a:p>
            <a:pPr marL="742950" indent="-742950">
              <a:buAutoNum type="arabicPeriod"/>
            </a:pPr>
            <a:r>
              <a:rPr lang="en-US" sz="3600" dirty="0"/>
              <a:t>To determine how learners are capable of tracking multiple inputs, an ability important in becoming proficient in more than one language.</a:t>
            </a:r>
          </a:p>
        </p:txBody>
      </p:sp>
      <p:pic>
        <p:nvPicPr>
          <p:cNvPr id="3" name="Picture 2">
            <a:extLst>
              <a:ext uri="{FF2B5EF4-FFF2-40B4-BE49-F238E27FC236}">
                <a16:creationId xmlns:a16="http://schemas.microsoft.com/office/drawing/2014/main" id="{90B47756-E19E-A344-B65B-BC91E646C1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0700" y="5207000"/>
            <a:ext cx="1346200" cy="134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7407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F861-E357-AE4C-8D9C-02E1E2765F20}"/>
              </a:ext>
            </a:extLst>
          </p:cNvPr>
          <p:cNvSpPr>
            <a:spLocks noGrp="1"/>
          </p:cNvSpPr>
          <p:nvPr>
            <p:ph type="title"/>
          </p:nvPr>
        </p:nvSpPr>
        <p:spPr/>
        <p:txBody>
          <a:bodyPr/>
          <a:lstStyle/>
          <a:p>
            <a:r>
              <a:rPr lang="en-US" dirty="0">
                <a:solidFill>
                  <a:schemeClr val="accent2"/>
                </a:solidFill>
              </a:rPr>
              <a:t>In conclusion</a:t>
            </a:r>
          </a:p>
        </p:txBody>
      </p:sp>
      <p:sp>
        <p:nvSpPr>
          <p:cNvPr id="3" name="Content Placeholder 2">
            <a:extLst>
              <a:ext uri="{FF2B5EF4-FFF2-40B4-BE49-F238E27FC236}">
                <a16:creationId xmlns:a16="http://schemas.microsoft.com/office/drawing/2014/main" id="{C669D6C0-FD59-DE43-BBCD-781ABE1F8204}"/>
              </a:ext>
            </a:extLst>
          </p:cNvPr>
          <p:cNvSpPr>
            <a:spLocks noGrp="1"/>
          </p:cNvSpPr>
          <p:nvPr>
            <p:ph idx="1"/>
          </p:nvPr>
        </p:nvSpPr>
        <p:spPr/>
        <p:txBody>
          <a:bodyPr>
            <a:normAutofit/>
          </a:bodyPr>
          <a:lstStyle/>
          <a:p>
            <a:r>
              <a:rPr lang="en-US" sz="3200" dirty="0"/>
              <a:t>We know much more than we think we know about languages.</a:t>
            </a:r>
          </a:p>
          <a:p>
            <a:endParaRPr lang="en-US" sz="3200" dirty="0"/>
          </a:p>
          <a:p>
            <a:r>
              <a:rPr lang="en-US" sz="3200" dirty="0"/>
              <a:t>We start learning languages before being born.</a:t>
            </a:r>
          </a:p>
          <a:p>
            <a:endParaRPr lang="en-US" sz="3200" dirty="0"/>
          </a:p>
          <a:p>
            <a:r>
              <a:rPr lang="en-US" sz="3200" dirty="0"/>
              <a:t>Some researchers believe that we learn languages using mathematical statistical computations in our brain to notice patterns in the input.</a:t>
            </a:r>
          </a:p>
        </p:txBody>
      </p:sp>
    </p:spTree>
    <p:extLst>
      <p:ext uri="{BB962C8B-B14F-4D97-AF65-F5344CB8AC3E}">
        <p14:creationId xmlns:p14="http://schemas.microsoft.com/office/powerpoint/2010/main" val="1974875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1394</Words>
  <Application>Microsoft Macintosh PowerPoint</Application>
  <PresentationFormat>Widescreen</PresentationFormat>
  <Paragraphs>141</Paragraphs>
  <Slides>19</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Statistical language learning </vt:lpstr>
      <vt:lpstr>You know more than you think…</vt:lpstr>
      <vt:lpstr>PowerPoint Presentation</vt:lpstr>
      <vt:lpstr>Language development  (aka becoming a native speaker)</vt:lpstr>
      <vt:lpstr>Language development  (aka becoming a native speaker)</vt:lpstr>
      <vt:lpstr>Language development  (aka becoming a native speaker)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Nuria Sagarra</dc:creator>
  <cp:lastModifiedBy>Nuria Sagarra</cp:lastModifiedBy>
  <cp:revision>23</cp:revision>
  <dcterms:created xsi:type="dcterms:W3CDTF">2021-09-26T21:22:40Z</dcterms:created>
  <dcterms:modified xsi:type="dcterms:W3CDTF">2021-09-27T01:08:14Z</dcterms:modified>
</cp:coreProperties>
</file>